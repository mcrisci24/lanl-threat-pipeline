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70" r:id="rId5"/>
    <p:sldId id="259" r:id="rId6"/>
    <p:sldId id="260" r:id="rId7"/>
    <p:sldId id="261" r:id="rId8"/>
    <p:sldId id="262" r:id="rId9"/>
    <p:sldId id="263" r:id="rId10"/>
    <p:sldId id="264" r:id="rId11"/>
    <p:sldId id="268" r:id="rId12"/>
    <p:sldId id="269" r:id="rId13"/>
    <p:sldId id="265" r:id="rId14"/>
    <p:sldId id="266" r:id="rId15"/>
    <p:sldId id="267"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FB7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725" y="58"/>
      </p:cViewPr>
      <p:guideLst>
        <p:guide orient="horz" pos="2160"/>
        <p:guide pos="2880"/>
      </p:guideLst>
    </p:cSldViewPr>
  </p:slideViewPr>
  <p:notesTextViewPr>
    <p:cViewPr>
      <p:scale>
        <a:sx n="100" d="100"/>
        <a:sy n="100" d="100"/>
      </p:scale>
      <p:origin x="0" y="-56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1D3A68-6000-44C2-9E0F-9BDE4A80C592}" type="datetimeFigureOut">
              <a:rPr lang="en-US" smtClean="0"/>
              <a:t>5/13/2026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20D53C-F598-453C-8C7D-4704E4B0DEDC}" type="slidenum">
              <a:rPr lang="en-US" smtClean="0"/>
              <a:t>‹#›</a:t>
            </a:fld>
            <a:endParaRPr lang="en-US"/>
          </a:p>
        </p:txBody>
      </p:sp>
    </p:spTree>
    <p:extLst>
      <p:ext uri="{BB962C8B-B14F-4D97-AF65-F5344CB8AC3E}">
        <p14:creationId xmlns:p14="http://schemas.microsoft.com/office/powerpoint/2010/main" val="5054060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"Good morning. I'm going to show you a machine learning system that predicts whether a computer will be compromised by an attacker in the next hour — before the attack happens, not while it's happening. This is a supervised learning project built on real enterprise telemetry from a US government laboratory."</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a:t>
            </a:fld>
            <a:endParaRPr lang="en-US"/>
          </a:p>
        </p:txBody>
      </p:sp>
    </p:spTree>
    <p:extLst>
      <p:ext uri="{BB962C8B-B14F-4D97-AF65-F5344CB8AC3E}">
        <p14:creationId xmlns:p14="http://schemas.microsoft.com/office/powerpoint/2010/main" val="23877161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research question is: given how a computer behaved in the current one-hour window — how many logins, which destinations it connected to, how many bytes it sent — will that same computer show attacker activity in the NEXT hour? We predict the future window, not the current one. That design choice is critical and I'll explain why in a moment. Red-team activity means a ground-truth attacker event from the LANL red-team label file. I aggregate the data to the computer-hour level, so each row represents one computer’s behavior during one hour. In my model, a positive label means that the same computer appears in the red-team activity stream in the next one-hour window. So the target is not simply, “Does this current row look suspicious?” Instead, it asks, “Does this computer’s current behavior predict a labeled attacker event in the next hour?” This creates a binary supervised learning label: 1 means red-team activity occurs for that computer in the next hour; 0 means it does not."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2</a:t>
            </a:fld>
            <a:endParaRPr lang="en-US"/>
          </a:p>
        </p:txBody>
      </p:sp>
    </p:spTree>
    <p:extLst>
      <p:ext uri="{BB962C8B-B14F-4D97-AF65-F5344CB8AC3E}">
        <p14:creationId xmlns:p14="http://schemas.microsoft.com/office/powerpoint/2010/main" val="35323156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520D53C-F598-453C-8C7D-4704E4B0DEDC}" type="slidenum">
              <a:rPr lang="en-US" smtClean="0"/>
              <a:t>3</a:t>
            </a:fld>
            <a:endParaRPr lang="en-US"/>
          </a:p>
        </p:txBody>
      </p:sp>
    </p:spTree>
    <p:extLst>
      <p:ext uri="{BB962C8B-B14F-4D97-AF65-F5344CB8AC3E}">
        <p14:creationId xmlns:p14="http://schemas.microsoft.com/office/powerpoint/2010/main" val="3819138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"Cleaning was done in Apache Spark: explicit schemas to prevent silent type coercions, timestamp casting, whitespace trimming. The output is clean Parquet files. Feature engineering aggregated each computer's events into 43 behavioral signals per hour — authentication counts, failure rates, unique destinations, bytes per flow, DNS diversity. EDA revealed several correlated feature pairs: </a:t>
            </a:r>
            <a:r>
              <a:rPr lang="en-US" dirty="0" err="1"/>
              <a:t>auth_total</a:t>
            </a:r>
            <a:r>
              <a:rPr lang="en-US" dirty="0"/>
              <a:t> and </a:t>
            </a:r>
            <a:r>
              <a:rPr lang="en-US" dirty="0" err="1"/>
              <a:t>auth_inbound_count</a:t>
            </a:r>
            <a:r>
              <a:rPr lang="en-US" dirty="0"/>
              <a:t> have r=0.91, flagged as partially redundant. We retained both because correlation doesn't equal redundancy in a tree model — </a:t>
            </a:r>
            <a:r>
              <a:rPr lang="en-US" dirty="0" err="1"/>
              <a:t>LightGBM's</a:t>
            </a:r>
            <a:r>
              <a:rPr lang="en-US" dirty="0"/>
              <a:t> feature importance confirmed these had near-zero split gain. All 43 features were retained."</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5</a:t>
            </a:fld>
            <a:endParaRPr lang="en-US"/>
          </a:p>
        </p:txBody>
      </p:sp>
    </p:spTree>
    <p:extLst>
      <p:ext uri="{BB962C8B-B14F-4D97-AF65-F5344CB8AC3E}">
        <p14:creationId xmlns:p14="http://schemas.microsoft.com/office/powerpoint/2010/main" val="36752954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prior work on LANL uses unsupervised anomaly detection — autoencoders, isolation forests — because labelled data is scarce. Turcotte et al. 2018 described the dataset. Kent 2016 used graph-based anomaly scoring. He and Garcia 2009 established PR AUC as the correct primary metric under severe class imbalance. Our departure: we treat this as supervised binary classification and use all 596 ground-truth labels directly. That gives us interpretable predictions, a measurable precision-recall trade-off, and the ability to tune the decision threshold to a business cost matrix. The cost is that 596 positives is thin — we handle that explicitly in the modelling."</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6</a:t>
            </a:fld>
            <a:endParaRPr lang="en-US"/>
          </a:p>
        </p:txBody>
      </p:sp>
    </p:spTree>
    <p:extLst>
      <p:ext uri="{BB962C8B-B14F-4D97-AF65-F5344CB8AC3E}">
        <p14:creationId xmlns:p14="http://schemas.microsoft.com/office/powerpoint/2010/main" val="36339179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benchmark for binary classification is logistic regression. I fit it with </a:t>
            </a:r>
            <a:r>
              <a:rPr lang="en-US" dirty="0" err="1"/>
              <a:t>class_weight</a:t>
            </a:r>
            <a:r>
              <a:rPr lang="en-US" dirty="0"/>
              <a:t> balanced inside a median-impute, standard-scale pipeline. Before I show you the benchmark results, I need to address the metric. On a dataset that is 99.996% negative, a model that predicts 'safe' for every single row achieves 99.9957% accuracy and catches zero attacks. Accuracy is meaningless here. The correct primary metric is PR AUC — area under the precision-recall curve — because it is directly sensitive to false positives under imbalance. The random baseline PR AUC for this dataset is 0.0000429 — literally the positive rate. The LR benchmark scores 0.00111 on the test set — 26 times better than random. That's the floor we need to beat."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7</a:t>
            </a:fld>
            <a:endParaRPr lang="en-US"/>
          </a:p>
        </p:txBody>
      </p:sp>
    </p:spTree>
    <p:extLst>
      <p:ext uri="{BB962C8B-B14F-4D97-AF65-F5344CB8AC3E}">
        <p14:creationId xmlns:p14="http://schemas.microsoft.com/office/powerpoint/2010/main" val="7087680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trained four models: logistic regression as the baseline, balanced random forest, </a:t>
            </a:r>
            <a:r>
              <a:rPr lang="en-US" dirty="0" err="1"/>
              <a:t>XGBoost</a:t>
            </a:r>
            <a:r>
              <a:rPr lang="en-US" dirty="0"/>
              <a:t> with </a:t>
            </a:r>
            <a:r>
              <a:rPr lang="en-US" dirty="0" err="1"/>
              <a:t>scale_pos_weight</a:t>
            </a:r>
            <a:r>
              <a:rPr lang="en-US" dirty="0"/>
              <a:t> set to the class ratio, and </a:t>
            </a:r>
            <a:r>
              <a:rPr lang="en-US" dirty="0" err="1"/>
              <a:t>LightGBM</a:t>
            </a:r>
            <a:r>
              <a:rPr lang="en-US" dirty="0"/>
              <a:t> with </a:t>
            </a:r>
            <a:r>
              <a:rPr lang="en-US" dirty="0" err="1"/>
              <a:t>class_weight</a:t>
            </a:r>
            <a:r>
              <a:rPr lang="en-US" dirty="0"/>
              <a:t> balanced. For tree models: 400 estimators, learning rate 0.08, subsample 0.85, L2 regularization 1.0. </a:t>
            </a:r>
            <a:r>
              <a:rPr lang="en-US" dirty="0" err="1"/>
              <a:t>LightGBM</a:t>
            </a:r>
            <a:r>
              <a:rPr lang="en-US" dirty="0"/>
              <a:t> uses 63 leaves. All four use the same preprocessing pipeline. Hyperparameters were selected by manual search on the validation set — full grid search is computationally prohibitive on 13.9 million rows. I varied estimator count, depth, learning rate, and regularization, picked the values that maximized validation PR AUC, then locked them and evaluated on test."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8</a:t>
            </a:fld>
            <a:endParaRPr lang="en-US"/>
          </a:p>
        </p:txBody>
      </p:sp>
    </p:spTree>
    <p:extLst>
      <p:ext uri="{BB962C8B-B14F-4D97-AF65-F5344CB8AC3E}">
        <p14:creationId xmlns:p14="http://schemas.microsoft.com/office/powerpoint/2010/main" val="3807187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split is 60/20/20 stratified random, giving roughly 119 positives in each set. Why not k-fold? This is time-ordered security data. Standard k-fold shuffles rows before splitting, which can leak future behavioral patterns into training. I implemented a strict chronological split and tested it — but the red-team campaign is concentrated in the final weeks, so a chronological split places nearly all 596 positives in training and leaves validation and test with near-zero positives. Every metric becomes </a:t>
            </a:r>
            <a:r>
              <a:rPr lang="en-US" dirty="0" err="1"/>
              <a:t>NaN</a:t>
            </a:r>
            <a:r>
              <a:rPr lang="en-US" dirty="0"/>
              <a:t>. The stratified split with the lead() target construction is the correct resolution: positive rates are proportional, and within-row temporal leakage is prevented at the feature-engineering step."</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9</a:t>
            </a:fld>
            <a:endParaRPr lang="en-US"/>
          </a:p>
        </p:txBody>
      </p:sp>
    </p:spTree>
    <p:extLst>
      <p:ext uri="{BB962C8B-B14F-4D97-AF65-F5344CB8AC3E}">
        <p14:creationId xmlns:p14="http://schemas.microsoft.com/office/powerpoint/2010/main" val="27415573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are the results across all four models on both validation and test. Logistic regression: test ROC AUC 0.820, test PR AUC 0.00111. Random forest: 0.748 and 0.000322 — actually worse than logistic regression on PR AUC. </a:t>
            </a:r>
            <a:r>
              <a:rPr lang="en-US" dirty="0" err="1"/>
              <a:t>XGBoost</a:t>
            </a:r>
            <a:r>
              <a:rPr lang="en-US" dirty="0"/>
              <a:t>: 0.879 and 0.035. </a:t>
            </a:r>
            <a:r>
              <a:rPr lang="en-US" dirty="0" err="1"/>
              <a:t>LightGBM</a:t>
            </a:r>
            <a:r>
              <a:rPr lang="en-US" dirty="0"/>
              <a:t>: 0.881 and 0.039. </a:t>
            </a:r>
            <a:r>
              <a:rPr lang="en-US" dirty="0" err="1"/>
              <a:t>LightGBM</a:t>
            </a:r>
            <a:r>
              <a:rPr lang="en-US" dirty="0"/>
              <a:t> wins on both metrics. Its PR AUC of 0.039 is 909 times better than the random baseline and 35 times better than the logistic regression benchmark. The complexity is clearly worth it."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10</a:t>
            </a:fld>
            <a:endParaRPr lang="en-US"/>
          </a:p>
        </p:txBody>
      </p:sp>
    </p:spTree>
    <p:extLst>
      <p:ext uri="{BB962C8B-B14F-4D97-AF65-F5344CB8AC3E}">
        <p14:creationId xmlns:p14="http://schemas.microsoft.com/office/powerpoint/2010/main" val="20404693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winning </a:t>
            </a:r>
            <a:r>
              <a:rPr lang="en-US" dirty="0" err="1"/>
              <a:t>LightGBM</a:t>
            </a:r>
            <a:r>
              <a:rPr lang="en-US" dirty="0"/>
              <a:t> model from two curve-based views. The ROC curves show global ranking ability: whether attack-like host-hours tend to receive higher scores than benign host-hours. On the held-out test set, </a:t>
            </a:r>
            <a:r>
              <a:rPr lang="en-US" dirty="0" err="1"/>
              <a:t>LightGBM</a:t>
            </a:r>
            <a:r>
              <a:rPr lang="en-US" dirty="0"/>
              <a:t> reaches a ROC-AUC of 0.881.</a:t>
            </a:r>
          </a:p>
          <a:p>
            <a:r>
              <a:rPr lang="en-US" dirty="0"/>
              <a:t>The precision-recall curves are more important for this project because the positive class is extremely rare: only about 0.0043% of rows are positives. That is why the PR curve looks visually compressed near the bottom. The important comparison is not whether PR-AUC is close to 1.0, but how much better it is than the random baseline. The test PR-AUC is 0.03905 compared with a random baseline of 0.000043, which is about 909 times better than random.</a:t>
            </a:r>
          </a:p>
          <a:p>
            <a:r>
              <a:rPr lang="en-US" dirty="0"/>
              <a:t>The conclusion is that </a:t>
            </a:r>
            <a:r>
              <a:rPr lang="en-US" dirty="0" err="1"/>
              <a:t>LightGBM</a:t>
            </a:r>
            <a:r>
              <a:rPr lang="en-US" dirty="0"/>
              <a:t> is not a magic attack oracle. It is a strong risk-ranking model. It moves rare red-team behavior much higher in the queue than random chance would."</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11</a:t>
            </a:fld>
            <a:endParaRPr lang="en-US"/>
          </a:p>
        </p:txBody>
      </p:sp>
    </p:spTree>
    <p:extLst>
      <p:ext uri="{BB962C8B-B14F-4D97-AF65-F5344CB8AC3E}">
        <p14:creationId xmlns:p14="http://schemas.microsoft.com/office/powerpoint/2010/main" val="2070881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slide shows the same model at a specific operating threshold: 0.10. The confusion matrix answers a different question than ROC-AUC or PR-AUC. The curves show ranking quality across many possible thresholds. The confusion matrix shows what happens when we choose one threshold and actually classify rows as attack or no attack.</a:t>
            </a:r>
          </a:p>
          <a:p>
            <a:r>
              <a:rPr lang="en-US" dirty="0"/>
              <a:t>On the test set, the model catches 28 of 119 attacks and misses 91. It also produces 57,535 false positives out of about 2.78 million host-hours. That sounds like a lot, and operationally it matters, because false positives become analyst workload. But it is still filtering a massive telemetry stream down to a much smaller set of high-risk rows.</a:t>
            </a:r>
          </a:p>
          <a:p>
            <a:r>
              <a:rPr lang="en-US" dirty="0"/>
              <a:t>This is why I frame the system as SOC triage, not autonomous detection. A lower threshold catches more attacks but creates more alerts. A higher threshold reduces alert volume but misses more attacks. The threshold is a business and operational decision."</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12</a:t>
            </a:fld>
            <a:endParaRPr lang="en-US"/>
          </a:p>
        </p:txBody>
      </p:sp>
    </p:spTree>
    <p:extLst>
      <p:ext uri="{BB962C8B-B14F-4D97-AF65-F5344CB8AC3E}">
        <p14:creationId xmlns:p14="http://schemas.microsoft.com/office/powerpoint/2010/main" val="20613113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LightGBM</a:t>
            </a:r>
            <a:r>
              <a:rPr lang="en-US" dirty="0"/>
              <a:t> gives us exact per-feature contributions using </a:t>
            </a:r>
            <a:r>
              <a:rPr lang="en-US" dirty="0" err="1"/>
              <a:t>TreeSHAP</a:t>
            </a:r>
            <a:r>
              <a:rPr lang="en-US" dirty="0"/>
              <a:t> — the model's own internal calculation, not a sampling approximation. Red bars push predicted risk up, green bars push it down. On the HIGH risk preset: the model flags a computer with 4 outbound auth events to 1 destination and 12 network flows. It looks quiet. The model says: that pattern — focused, low-noise, targeted — is the reconnaissance fingerprint. Diverse, high-volume activity reads as a normal admin host. The counterfactual recommender adds: 'reduce outbound auth count by 2 and risk drops below 20%.' That's an actionable recommendation for a security analyst."</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13</a:t>
            </a:fld>
            <a:endParaRPr lang="en-US"/>
          </a:p>
        </p:txBody>
      </p:sp>
    </p:spTree>
    <p:extLst>
      <p:ext uri="{BB962C8B-B14F-4D97-AF65-F5344CB8AC3E}">
        <p14:creationId xmlns:p14="http://schemas.microsoft.com/office/powerpoint/2010/main" val="3754578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"Scikit-learn defaults to threshold 0.5. On this dataset almost no row ever scores above 0.5, so the model appears to predict nothing. The threshold is actually a deployment knob. The system exposes a cost-optimal threshold calculator: give it the dollar cost of a false alarm and the cost of a missed attack, and it returns the threshold that minimizes total expected cost over the validation set. At </a:t>
            </a:r>
            <a:r>
              <a:rPr lang="en-US" dirty="0" err="1"/>
              <a:t>cost_fp</a:t>
            </a:r>
            <a:r>
              <a:rPr lang="en-US" dirty="0"/>
              <a:t>=100 and </a:t>
            </a:r>
            <a:r>
              <a:rPr lang="en-US" dirty="0" err="1"/>
              <a:t>cost_fn</a:t>
            </a:r>
            <a:r>
              <a:rPr lang="en-US" dirty="0"/>
              <a:t>=100,000 — a missed attack costs a thousand times a false alarm — the optimal threshold is around 0.10. That's the operationally correct cutoff. Dragging the threshold slider from 0.5 to 0.1 turns a model that looks broken into one that catches attacks."</a:t>
            </a:r>
          </a:p>
          <a:p>
            <a:endParaRPr lang="en-US" dirty="0"/>
          </a:p>
        </p:txBody>
      </p:sp>
      <p:sp>
        <p:nvSpPr>
          <p:cNvPr id="4" name="Slide Number Placeholder 3"/>
          <p:cNvSpPr>
            <a:spLocks noGrp="1"/>
          </p:cNvSpPr>
          <p:nvPr>
            <p:ph type="sldNum" sz="quarter" idx="5"/>
          </p:nvPr>
        </p:nvSpPr>
        <p:spPr/>
        <p:txBody>
          <a:bodyPr/>
          <a:lstStyle/>
          <a:p>
            <a:fld id="{F520D53C-F598-453C-8C7D-4704E4B0DEDC}" type="slidenum">
              <a:rPr lang="en-US" smtClean="0"/>
              <a:t>14</a:t>
            </a:fld>
            <a:endParaRPr lang="en-US"/>
          </a:p>
        </p:txBody>
      </p:sp>
    </p:spTree>
    <p:extLst>
      <p:ext uri="{BB962C8B-B14F-4D97-AF65-F5344CB8AC3E}">
        <p14:creationId xmlns:p14="http://schemas.microsoft.com/office/powerpoint/2010/main" val="528844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limitations: the streaming ingest is simulated, not a real Kinesis consumer. The model's probabilities are good for ranking but not calibrated as true frequencies — we'd want reliability diagrams and Platt scaling before quoting percentages. “The model’s biggest limitation is that this is a rare-event problem with only 596 positives. I used a stratified 60/20/20 split because a strict chronological split left validation and test with too few positives to evaluate, but that means the evaluation is not a perfect forward-in-time deployment simulation. </a:t>
            </a:r>
            <a:r>
              <a:rPr lang="en-US" dirty="0" err="1"/>
              <a:t>LightGBM</a:t>
            </a:r>
            <a:r>
              <a:rPr lang="en-US" dirty="0"/>
              <a:t> performs much better than random and much better than logistic regression, especially on PR-AUC, but the absolute PR-AUC is still low because the positive rate is only about 0.0043%. The confusion matrix also shows that at threshold 0.10, the model catches some attacks but misses many and still creates analyst workload. So I would not frame this as an autonomous attack detector. I would frame it as a SOC triage model that ranks risky host-hours for analyst review. </a:t>
            </a:r>
            <a:r>
              <a:rPr lang="en-US"/>
              <a:t>Future work would include external validation, probability calibration, stronger temporal validation, sequence/graph features, and threshold tuning based on actual SOC capacity.”</a:t>
            </a:r>
          </a:p>
        </p:txBody>
      </p:sp>
      <p:sp>
        <p:nvSpPr>
          <p:cNvPr id="4" name="Slide Number Placeholder 3"/>
          <p:cNvSpPr>
            <a:spLocks noGrp="1"/>
          </p:cNvSpPr>
          <p:nvPr>
            <p:ph type="sldNum" sz="quarter" idx="5"/>
          </p:nvPr>
        </p:nvSpPr>
        <p:spPr/>
        <p:txBody>
          <a:bodyPr/>
          <a:lstStyle/>
          <a:p>
            <a:fld id="{F520D53C-F598-453C-8C7D-4704E4B0DEDC}" type="slidenum">
              <a:rPr lang="en-US" smtClean="0"/>
              <a:t>15</a:t>
            </a:fld>
            <a:endParaRPr lang="en-US"/>
          </a:p>
        </p:txBody>
      </p:sp>
    </p:spTree>
    <p:extLst>
      <p:ext uri="{BB962C8B-B14F-4D97-AF65-F5344CB8AC3E}">
        <p14:creationId xmlns:p14="http://schemas.microsoft.com/office/powerpoint/2010/main" val="26827263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377440"/>
            <a:ext cx="12188952" cy="54864"/>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005840"/>
            <a:ext cx="10332720" cy="1005840"/>
          </a:xfrm>
          <a:prstGeom prst="rect">
            <a:avLst/>
          </a:prstGeom>
          <a:noFill/>
        </p:spPr>
        <p:txBody>
          <a:bodyPr wrap="square">
            <a:spAutoFit/>
          </a:bodyPr>
          <a:lstStyle/>
          <a:p>
            <a:pPr algn="ctr"/>
            <a:r>
              <a:rPr sz="4600" b="1">
                <a:solidFill>
                  <a:srgbClr val="FFFFFF"/>
                </a:solidFill>
                <a:latin typeface="Calibri"/>
              </a:rPr>
              <a:t>PREDICTING CYBER ATTACKS</a:t>
            </a:r>
          </a:p>
        </p:txBody>
      </p:sp>
      <p:sp>
        <p:nvSpPr>
          <p:cNvPr id="4" name="TextBox 3"/>
          <p:cNvSpPr txBox="1"/>
          <p:nvPr/>
        </p:nvSpPr>
        <p:spPr>
          <a:xfrm>
            <a:off x="914400" y="1819562"/>
            <a:ext cx="10332720" cy="731520"/>
          </a:xfrm>
          <a:prstGeom prst="rect">
            <a:avLst/>
          </a:prstGeom>
          <a:noFill/>
        </p:spPr>
        <p:txBody>
          <a:bodyPr wrap="square">
            <a:spAutoFit/>
          </a:bodyPr>
          <a:lstStyle/>
          <a:p>
            <a:pPr algn="ctr"/>
            <a:r>
              <a:rPr sz="4000" b="1">
                <a:solidFill>
                  <a:srgbClr val="00D48A"/>
                </a:solidFill>
                <a:latin typeface="Calibri"/>
              </a:rPr>
              <a:t>ONE HOUR EARLY</a:t>
            </a:r>
          </a:p>
        </p:txBody>
      </p:sp>
      <p:sp>
        <p:nvSpPr>
          <p:cNvPr id="5" name="TextBox 4"/>
          <p:cNvSpPr txBox="1"/>
          <p:nvPr/>
        </p:nvSpPr>
        <p:spPr>
          <a:xfrm>
            <a:off x="914400" y="2606040"/>
            <a:ext cx="10332720" cy="548640"/>
          </a:xfrm>
          <a:prstGeom prst="rect">
            <a:avLst/>
          </a:prstGeom>
          <a:noFill/>
        </p:spPr>
        <p:txBody>
          <a:bodyPr wrap="square">
            <a:spAutoFit/>
          </a:bodyPr>
          <a:lstStyle/>
          <a:p>
            <a:pPr algn="ctr"/>
            <a:r>
              <a:rPr sz="2000" b="0">
                <a:solidFill>
                  <a:srgbClr val="9CA3AF"/>
                </a:solidFill>
                <a:latin typeface="Calibri"/>
              </a:rPr>
              <a:t>Supervised Binary Classification on Real Enterprise Telemetry</a:t>
            </a:r>
          </a:p>
        </p:txBody>
      </p:sp>
      <p:sp>
        <p:nvSpPr>
          <p:cNvPr id="6" name="TextBox 5"/>
          <p:cNvSpPr txBox="1"/>
          <p:nvPr/>
        </p:nvSpPr>
        <p:spPr>
          <a:xfrm>
            <a:off x="914400" y="5303520"/>
            <a:ext cx="10332720" cy="457200"/>
          </a:xfrm>
          <a:prstGeom prst="rect">
            <a:avLst/>
          </a:prstGeom>
          <a:noFill/>
        </p:spPr>
        <p:txBody>
          <a:bodyPr wrap="square">
            <a:spAutoFit/>
          </a:bodyPr>
          <a:lstStyle/>
          <a:p>
            <a:pPr algn="ctr"/>
            <a:r>
              <a:rPr sz="1500" b="0">
                <a:solidFill>
                  <a:srgbClr val="9CA3AF"/>
                </a:solidFill>
                <a:latin typeface="Calibri"/>
              </a:rPr>
              <a:t>Mark Crisci  |  Machine Learning Final Project  |  May 2026</a:t>
            </a:r>
          </a:p>
        </p:txBody>
      </p:sp>
      <p:sp>
        <p:nvSpPr>
          <p:cNvPr id="7" name="TextBox 6"/>
          <p:cNvSpPr txBox="1"/>
          <p:nvPr/>
        </p:nvSpPr>
        <p:spPr>
          <a:xfrm>
            <a:off x="914400" y="5760720"/>
            <a:ext cx="10332720" cy="365760"/>
          </a:xfrm>
          <a:prstGeom prst="rect">
            <a:avLst/>
          </a:prstGeom>
          <a:noFill/>
        </p:spPr>
        <p:txBody>
          <a:bodyPr wrap="square">
            <a:spAutoFit/>
          </a:bodyPr>
          <a:lstStyle/>
          <a:p>
            <a:pPr algn="ctr"/>
            <a:r>
              <a:rPr sz="1300" b="0">
                <a:solidFill>
                  <a:srgbClr val="9CA3AF"/>
                </a:solidFill>
                <a:latin typeface="Calibri"/>
              </a:rPr>
              <a:t>Dataset: LANL Unified Host &amp; Network Telemetry (not Kaggle)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The Research Question</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Supervised binary classification — future-window target</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2/12</a:t>
            </a:r>
          </a:p>
        </p:txBody>
      </p:sp>
      <p:sp>
        <p:nvSpPr>
          <p:cNvPr id="6" name="Rectangle 5"/>
          <p:cNvSpPr/>
          <p:nvPr/>
        </p:nvSpPr>
        <p:spPr>
          <a:xfrm>
            <a:off x="457200" y="1463040"/>
            <a:ext cx="11274552" cy="13716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54480"/>
            <a:ext cx="10698480" cy="1188720"/>
          </a:xfrm>
          <a:prstGeom prst="rect">
            <a:avLst/>
          </a:prstGeom>
          <a:noFill/>
        </p:spPr>
        <p:txBody>
          <a:bodyPr wrap="square">
            <a:spAutoFit/>
          </a:bodyPr>
          <a:lstStyle/>
          <a:p>
            <a:pPr algn="ctr"/>
            <a:r>
              <a:rPr sz="2200" b="1">
                <a:solidFill>
                  <a:srgbClr val="00D48A"/>
                </a:solidFill>
                <a:latin typeface="Calibri"/>
              </a:rPr>
              <a:t>"Given how a computer behaved in the current one-hour window, will it show red-team activity in the NEXT one-hour window?"</a:t>
            </a:r>
          </a:p>
        </p:txBody>
      </p:sp>
      <p:sp>
        <p:nvSpPr>
          <p:cNvPr id="8" name="Rectangle 7"/>
          <p:cNvSpPr/>
          <p:nvPr/>
        </p:nvSpPr>
        <p:spPr>
          <a:xfrm>
            <a:off x="457200" y="2971800"/>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3017520"/>
            <a:ext cx="11000232" cy="320040"/>
          </a:xfrm>
          <a:prstGeom prst="rect">
            <a:avLst/>
          </a:prstGeom>
          <a:noFill/>
        </p:spPr>
        <p:txBody>
          <a:bodyPr wrap="square">
            <a:spAutoFit/>
          </a:bodyPr>
          <a:lstStyle/>
          <a:p>
            <a:pPr algn="l"/>
            <a:r>
              <a:rPr sz="1500" b="1">
                <a:solidFill>
                  <a:srgbClr val="FFFFFF"/>
                </a:solidFill>
                <a:latin typeface="Calibri"/>
              </a:rPr>
              <a:t>▸  Predict NEXT window — not current</a:t>
            </a:r>
          </a:p>
        </p:txBody>
      </p:sp>
      <p:sp>
        <p:nvSpPr>
          <p:cNvPr id="10" name="TextBox 9"/>
          <p:cNvSpPr txBox="1"/>
          <p:nvPr/>
        </p:nvSpPr>
        <p:spPr>
          <a:xfrm>
            <a:off x="822960" y="3291840"/>
            <a:ext cx="10771632" cy="228600"/>
          </a:xfrm>
          <a:prstGeom prst="rect">
            <a:avLst/>
          </a:prstGeom>
          <a:noFill/>
        </p:spPr>
        <p:txBody>
          <a:bodyPr wrap="square">
            <a:spAutoFit/>
          </a:bodyPr>
          <a:lstStyle/>
          <a:p>
            <a:pPr algn="l"/>
            <a:r>
              <a:rPr sz="1200" b="0">
                <a:solidFill>
                  <a:srgbClr val="9CA3AF"/>
                </a:solidFill>
                <a:latin typeface="Calibri"/>
              </a:rPr>
              <a:t>Prevents the model from reading its own label (data leakage)</a:t>
            </a:r>
          </a:p>
        </p:txBody>
      </p:sp>
      <p:sp>
        <p:nvSpPr>
          <p:cNvPr id="11" name="Rectangle 10"/>
          <p:cNvSpPr/>
          <p:nvPr/>
        </p:nvSpPr>
        <p:spPr>
          <a:xfrm>
            <a:off x="457200" y="3685032"/>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730752"/>
            <a:ext cx="11000232" cy="320040"/>
          </a:xfrm>
          <a:prstGeom prst="rect">
            <a:avLst/>
          </a:prstGeom>
          <a:noFill/>
        </p:spPr>
        <p:txBody>
          <a:bodyPr wrap="square">
            <a:spAutoFit/>
          </a:bodyPr>
          <a:lstStyle/>
          <a:p>
            <a:pPr algn="l"/>
            <a:r>
              <a:rPr sz="1500" b="1">
                <a:solidFill>
                  <a:srgbClr val="FFFFFF"/>
                </a:solidFill>
                <a:latin typeface="Calibri"/>
              </a:rPr>
              <a:t>▸  Binary target: 0 = benign, 1 = attack next hour</a:t>
            </a:r>
          </a:p>
        </p:txBody>
      </p:sp>
      <p:sp>
        <p:nvSpPr>
          <p:cNvPr id="13" name="TextBox 12"/>
          <p:cNvSpPr txBox="1"/>
          <p:nvPr/>
        </p:nvSpPr>
        <p:spPr>
          <a:xfrm>
            <a:off x="822960" y="4005072"/>
            <a:ext cx="10771632" cy="228600"/>
          </a:xfrm>
          <a:prstGeom prst="rect">
            <a:avLst/>
          </a:prstGeom>
          <a:noFill/>
        </p:spPr>
        <p:txBody>
          <a:bodyPr wrap="square">
            <a:spAutoFit/>
          </a:bodyPr>
          <a:lstStyle/>
          <a:p>
            <a:pPr algn="l"/>
            <a:r>
              <a:rPr sz="1200" b="0">
                <a:solidFill>
                  <a:srgbClr val="9CA3AF"/>
                </a:solidFill>
                <a:latin typeface="Calibri"/>
              </a:rPr>
              <a:t>Built with Spark lead() window function</a:t>
            </a:r>
          </a:p>
        </p:txBody>
      </p:sp>
      <p:sp>
        <p:nvSpPr>
          <p:cNvPr id="14" name="Rectangle 13"/>
          <p:cNvSpPr/>
          <p:nvPr/>
        </p:nvSpPr>
        <p:spPr>
          <a:xfrm>
            <a:off x="457200" y="4398264"/>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4443984"/>
            <a:ext cx="11000232" cy="320040"/>
          </a:xfrm>
          <a:prstGeom prst="rect">
            <a:avLst/>
          </a:prstGeom>
          <a:noFill/>
        </p:spPr>
        <p:txBody>
          <a:bodyPr wrap="square">
            <a:spAutoFit/>
          </a:bodyPr>
          <a:lstStyle/>
          <a:p>
            <a:pPr algn="l"/>
            <a:r>
              <a:rPr sz="1500" b="1">
                <a:solidFill>
                  <a:srgbClr val="FFFFFF"/>
                </a:solidFill>
                <a:latin typeface="Calibri"/>
              </a:rPr>
              <a:t>▸  Supervised learning — 596 ground-truth attack labels used directly</a:t>
            </a:r>
          </a:p>
        </p:txBody>
      </p:sp>
      <p:sp>
        <p:nvSpPr>
          <p:cNvPr id="16" name="TextBox 15"/>
          <p:cNvSpPr txBox="1"/>
          <p:nvPr/>
        </p:nvSpPr>
        <p:spPr>
          <a:xfrm>
            <a:off x="822960" y="4718304"/>
            <a:ext cx="10771632" cy="228600"/>
          </a:xfrm>
          <a:prstGeom prst="rect">
            <a:avLst/>
          </a:prstGeom>
          <a:noFill/>
        </p:spPr>
        <p:txBody>
          <a:bodyPr wrap="square">
            <a:spAutoFit/>
          </a:bodyPr>
          <a:lstStyle/>
          <a:p>
            <a:pPr algn="l"/>
            <a:r>
              <a:rPr sz="1200" b="0">
                <a:solidFill>
                  <a:srgbClr val="9CA3AF"/>
                </a:solidFill>
                <a:latin typeface="Calibri"/>
              </a:rPr>
              <a:t>Unlike prior LANL work that uses unsupervised anomaly detection</a:t>
            </a:r>
          </a:p>
        </p:txBody>
      </p:sp>
      <p:sp>
        <p:nvSpPr>
          <p:cNvPr id="17" name="Rectangle 16"/>
          <p:cNvSpPr/>
          <p:nvPr/>
        </p:nvSpPr>
        <p:spPr>
          <a:xfrm>
            <a:off x="457200" y="5111496"/>
            <a:ext cx="11274552" cy="667512"/>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5157216"/>
            <a:ext cx="11000232" cy="320040"/>
          </a:xfrm>
          <a:prstGeom prst="rect">
            <a:avLst/>
          </a:prstGeom>
          <a:noFill/>
        </p:spPr>
        <p:txBody>
          <a:bodyPr wrap="square">
            <a:spAutoFit/>
          </a:bodyPr>
          <a:lstStyle/>
          <a:p>
            <a:pPr algn="l"/>
            <a:r>
              <a:rPr sz="1500" b="1">
                <a:solidFill>
                  <a:srgbClr val="FFFFFF"/>
                </a:solidFill>
                <a:latin typeface="Calibri"/>
              </a:rPr>
              <a:t>▸  Operationally useful: flag hosts BEFORE compromise, not during</a:t>
            </a:r>
          </a:p>
        </p:txBody>
      </p:sp>
      <p:sp>
        <p:nvSpPr>
          <p:cNvPr id="19" name="TextBox 18"/>
          <p:cNvSpPr txBox="1"/>
          <p:nvPr/>
        </p:nvSpPr>
        <p:spPr>
          <a:xfrm>
            <a:off x="822960" y="5431536"/>
            <a:ext cx="10771632" cy="228600"/>
          </a:xfrm>
          <a:prstGeom prst="rect">
            <a:avLst/>
          </a:prstGeom>
          <a:noFill/>
        </p:spPr>
        <p:txBody>
          <a:bodyPr wrap="square">
            <a:spAutoFit/>
          </a:bodyPr>
          <a:lstStyle/>
          <a:p>
            <a:pPr algn="l"/>
            <a:r>
              <a:rPr sz="1200" b="0">
                <a:solidFill>
                  <a:srgbClr val="9CA3AF"/>
                </a:solidFill>
                <a:latin typeface="Calibri"/>
              </a:rPr>
              <a:t>Earlier signal = time to respond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Dataset — LANL Enterprise Telemetry</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Real government network — not Kaggle</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3/12</a:t>
            </a:r>
          </a:p>
        </p:txBody>
      </p:sp>
      <p:sp>
        <p:nvSpPr>
          <p:cNvPr id="6" name="Rectangle 5"/>
          <p:cNvSpPr/>
          <p:nvPr/>
        </p:nvSpPr>
        <p:spPr>
          <a:xfrm>
            <a:off x="365760" y="1417320"/>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2011680" cy="320040"/>
          </a:xfrm>
          <a:prstGeom prst="rect">
            <a:avLst/>
          </a:prstGeom>
          <a:noFill/>
        </p:spPr>
        <p:txBody>
          <a:bodyPr wrap="square">
            <a:spAutoFit/>
          </a:bodyPr>
          <a:lstStyle/>
          <a:p>
            <a:pPr algn="l"/>
            <a:r>
              <a:rPr sz="1400" b="1">
                <a:solidFill>
                  <a:srgbClr val="00D48A"/>
                </a:solidFill>
                <a:latin typeface="Calibri"/>
              </a:rPr>
              <a:t>auth.txt.gz</a:t>
            </a:r>
          </a:p>
        </p:txBody>
      </p:sp>
      <p:sp>
        <p:nvSpPr>
          <p:cNvPr id="8" name="TextBox 7"/>
          <p:cNvSpPr txBox="1"/>
          <p:nvPr/>
        </p:nvSpPr>
        <p:spPr>
          <a:xfrm>
            <a:off x="2606040" y="1463040"/>
            <a:ext cx="822960" cy="320040"/>
          </a:xfrm>
          <a:prstGeom prst="rect">
            <a:avLst/>
          </a:prstGeom>
          <a:noFill/>
        </p:spPr>
        <p:txBody>
          <a:bodyPr wrap="square">
            <a:spAutoFit/>
          </a:bodyPr>
          <a:lstStyle/>
          <a:p>
            <a:pPr algn="l"/>
            <a:r>
              <a:rPr sz="1400" b="1">
                <a:solidFill>
                  <a:srgbClr val="FFB800"/>
                </a:solidFill>
                <a:latin typeface="Calibri"/>
              </a:rPr>
              <a:t>7.1 GB</a:t>
            </a:r>
          </a:p>
        </p:txBody>
      </p:sp>
      <p:sp>
        <p:nvSpPr>
          <p:cNvPr id="9" name="TextBox 8"/>
          <p:cNvSpPr txBox="1"/>
          <p:nvPr/>
        </p:nvSpPr>
        <p:spPr>
          <a:xfrm>
            <a:off x="548640" y="1764792"/>
            <a:ext cx="5212080" cy="256032"/>
          </a:xfrm>
          <a:prstGeom prst="rect">
            <a:avLst/>
          </a:prstGeom>
          <a:noFill/>
        </p:spPr>
        <p:txBody>
          <a:bodyPr wrap="square">
            <a:spAutoFit/>
          </a:bodyPr>
          <a:lstStyle/>
          <a:p>
            <a:pPr algn="l"/>
            <a:r>
              <a:rPr sz="1200" b="0">
                <a:solidFill>
                  <a:srgbClr val="9CA3AF"/>
                </a:solidFill>
                <a:latin typeface="Calibri"/>
              </a:rPr>
              <a:t>Authentication events — logon/logoff, success/fail</a:t>
            </a:r>
          </a:p>
        </p:txBody>
      </p:sp>
      <p:sp>
        <p:nvSpPr>
          <p:cNvPr id="10" name="Rectangle 9"/>
          <p:cNvSpPr/>
          <p:nvPr/>
        </p:nvSpPr>
        <p:spPr>
          <a:xfrm>
            <a:off x="365760" y="2130552"/>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176272"/>
            <a:ext cx="2011680" cy="320040"/>
          </a:xfrm>
          <a:prstGeom prst="rect">
            <a:avLst/>
          </a:prstGeom>
          <a:noFill/>
        </p:spPr>
        <p:txBody>
          <a:bodyPr wrap="square">
            <a:spAutoFit/>
          </a:bodyPr>
          <a:lstStyle/>
          <a:p>
            <a:pPr algn="l"/>
            <a:r>
              <a:rPr sz="1400" b="1">
                <a:solidFill>
                  <a:srgbClr val="00D48A"/>
                </a:solidFill>
                <a:latin typeface="Calibri"/>
              </a:rPr>
              <a:t>flows.txt.gz</a:t>
            </a:r>
          </a:p>
        </p:txBody>
      </p:sp>
      <p:sp>
        <p:nvSpPr>
          <p:cNvPr id="12" name="TextBox 11"/>
          <p:cNvSpPr txBox="1"/>
          <p:nvPr/>
        </p:nvSpPr>
        <p:spPr>
          <a:xfrm>
            <a:off x="2606040" y="2176272"/>
            <a:ext cx="822960" cy="320040"/>
          </a:xfrm>
          <a:prstGeom prst="rect">
            <a:avLst/>
          </a:prstGeom>
          <a:noFill/>
        </p:spPr>
        <p:txBody>
          <a:bodyPr wrap="square">
            <a:spAutoFit/>
          </a:bodyPr>
          <a:lstStyle/>
          <a:p>
            <a:pPr algn="l"/>
            <a:r>
              <a:rPr sz="1400" b="1">
                <a:solidFill>
                  <a:srgbClr val="FFB800"/>
                </a:solidFill>
                <a:latin typeface="Calibri"/>
              </a:rPr>
              <a:t>1.0 GB</a:t>
            </a:r>
          </a:p>
        </p:txBody>
      </p:sp>
      <p:sp>
        <p:nvSpPr>
          <p:cNvPr id="13" name="TextBox 12"/>
          <p:cNvSpPr txBox="1"/>
          <p:nvPr/>
        </p:nvSpPr>
        <p:spPr>
          <a:xfrm>
            <a:off x="548640" y="2478024"/>
            <a:ext cx="5212080" cy="256032"/>
          </a:xfrm>
          <a:prstGeom prst="rect">
            <a:avLst/>
          </a:prstGeom>
          <a:noFill/>
        </p:spPr>
        <p:txBody>
          <a:bodyPr wrap="square">
            <a:spAutoFit/>
          </a:bodyPr>
          <a:lstStyle/>
          <a:p>
            <a:pPr algn="l"/>
            <a:r>
              <a:rPr sz="1200" b="0">
                <a:solidFill>
                  <a:srgbClr val="9CA3AF"/>
                </a:solidFill>
                <a:latin typeface="Calibri"/>
              </a:rPr>
              <a:t>Network flows — src, dst, bytes, packets, duration</a:t>
            </a:r>
          </a:p>
        </p:txBody>
      </p:sp>
      <p:sp>
        <p:nvSpPr>
          <p:cNvPr id="14" name="Rectangle 13"/>
          <p:cNvSpPr/>
          <p:nvPr/>
        </p:nvSpPr>
        <p:spPr>
          <a:xfrm>
            <a:off x="365760" y="2843784"/>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2889504"/>
            <a:ext cx="2011680" cy="320040"/>
          </a:xfrm>
          <a:prstGeom prst="rect">
            <a:avLst/>
          </a:prstGeom>
          <a:noFill/>
        </p:spPr>
        <p:txBody>
          <a:bodyPr wrap="square">
            <a:spAutoFit/>
          </a:bodyPr>
          <a:lstStyle/>
          <a:p>
            <a:pPr algn="l"/>
            <a:r>
              <a:rPr sz="1400" b="1">
                <a:solidFill>
                  <a:srgbClr val="00D48A"/>
                </a:solidFill>
                <a:latin typeface="Calibri"/>
              </a:rPr>
              <a:t>proc.txt.gz</a:t>
            </a:r>
          </a:p>
        </p:txBody>
      </p:sp>
      <p:sp>
        <p:nvSpPr>
          <p:cNvPr id="16" name="TextBox 15"/>
          <p:cNvSpPr txBox="1"/>
          <p:nvPr/>
        </p:nvSpPr>
        <p:spPr>
          <a:xfrm>
            <a:off x="2606040" y="2889504"/>
            <a:ext cx="822960" cy="320040"/>
          </a:xfrm>
          <a:prstGeom prst="rect">
            <a:avLst/>
          </a:prstGeom>
          <a:noFill/>
        </p:spPr>
        <p:txBody>
          <a:bodyPr wrap="square">
            <a:spAutoFit/>
          </a:bodyPr>
          <a:lstStyle/>
          <a:p>
            <a:pPr algn="l"/>
            <a:r>
              <a:rPr sz="1400" b="1">
                <a:solidFill>
                  <a:srgbClr val="FFB800"/>
                </a:solidFill>
                <a:latin typeface="Calibri"/>
              </a:rPr>
              <a:t>2.2 GB</a:t>
            </a:r>
          </a:p>
        </p:txBody>
      </p:sp>
      <p:sp>
        <p:nvSpPr>
          <p:cNvPr id="17" name="TextBox 16"/>
          <p:cNvSpPr txBox="1"/>
          <p:nvPr/>
        </p:nvSpPr>
        <p:spPr>
          <a:xfrm>
            <a:off x="548640" y="3191256"/>
            <a:ext cx="5212080" cy="256032"/>
          </a:xfrm>
          <a:prstGeom prst="rect">
            <a:avLst/>
          </a:prstGeom>
          <a:noFill/>
        </p:spPr>
        <p:txBody>
          <a:bodyPr wrap="square">
            <a:spAutoFit/>
          </a:bodyPr>
          <a:lstStyle/>
          <a:p>
            <a:pPr algn="l"/>
            <a:r>
              <a:rPr sz="1200" b="0">
                <a:solidFill>
                  <a:srgbClr val="9CA3AF"/>
                </a:solidFill>
                <a:latin typeface="Calibri"/>
              </a:rPr>
              <a:t>Process start/stop events</a:t>
            </a:r>
          </a:p>
        </p:txBody>
      </p:sp>
      <p:sp>
        <p:nvSpPr>
          <p:cNvPr id="18" name="Rectangle 17"/>
          <p:cNvSpPr/>
          <p:nvPr/>
        </p:nvSpPr>
        <p:spPr>
          <a:xfrm>
            <a:off x="365760" y="3557016"/>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3602736"/>
            <a:ext cx="2011680" cy="320040"/>
          </a:xfrm>
          <a:prstGeom prst="rect">
            <a:avLst/>
          </a:prstGeom>
          <a:noFill/>
        </p:spPr>
        <p:txBody>
          <a:bodyPr wrap="square">
            <a:spAutoFit/>
          </a:bodyPr>
          <a:lstStyle/>
          <a:p>
            <a:pPr algn="l"/>
            <a:r>
              <a:rPr sz="1400" b="1">
                <a:solidFill>
                  <a:srgbClr val="00D48A"/>
                </a:solidFill>
                <a:latin typeface="Calibri"/>
              </a:rPr>
              <a:t>dns.txt.gz</a:t>
            </a:r>
          </a:p>
        </p:txBody>
      </p:sp>
      <p:sp>
        <p:nvSpPr>
          <p:cNvPr id="20" name="TextBox 19"/>
          <p:cNvSpPr txBox="1"/>
          <p:nvPr/>
        </p:nvSpPr>
        <p:spPr>
          <a:xfrm>
            <a:off x="2606040" y="3602736"/>
            <a:ext cx="822960" cy="320040"/>
          </a:xfrm>
          <a:prstGeom prst="rect">
            <a:avLst/>
          </a:prstGeom>
          <a:noFill/>
        </p:spPr>
        <p:txBody>
          <a:bodyPr wrap="square">
            <a:spAutoFit/>
          </a:bodyPr>
          <a:lstStyle/>
          <a:p>
            <a:pPr algn="l"/>
            <a:r>
              <a:rPr sz="1400" b="1">
                <a:solidFill>
                  <a:srgbClr val="FFB800"/>
                </a:solidFill>
                <a:latin typeface="Calibri"/>
              </a:rPr>
              <a:t>176 MB</a:t>
            </a:r>
          </a:p>
        </p:txBody>
      </p:sp>
      <p:sp>
        <p:nvSpPr>
          <p:cNvPr id="21" name="TextBox 20"/>
          <p:cNvSpPr txBox="1"/>
          <p:nvPr/>
        </p:nvSpPr>
        <p:spPr>
          <a:xfrm>
            <a:off x="548640" y="3904488"/>
            <a:ext cx="5212080" cy="256032"/>
          </a:xfrm>
          <a:prstGeom prst="rect">
            <a:avLst/>
          </a:prstGeom>
          <a:noFill/>
        </p:spPr>
        <p:txBody>
          <a:bodyPr wrap="square">
            <a:spAutoFit/>
          </a:bodyPr>
          <a:lstStyle/>
          <a:p>
            <a:pPr algn="l"/>
            <a:r>
              <a:rPr sz="1200" b="0">
                <a:solidFill>
                  <a:srgbClr val="9CA3AF"/>
                </a:solidFill>
                <a:latin typeface="Calibri"/>
              </a:rPr>
              <a:t>DNS lookups — domains queried per host</a:t>
            </a:r>
          </a:p>
        </p:txBody>
      </p:sp>
      <p:sp>
        <p:nvSpPr>
          <p:cNvPr id="22" name="Rectangle 21"/>
          <p:cNvSpPr/>
          <p:nvPr/>
        </p:nvSpPr>
        <p:spPr>
          <a:xfrm>
            <a:off x="365760" y="4270248"/>
            <a:ext cx="5577840" cy="65836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4315968"/>
            <a:ext cx="2011680" cy="320040"/>
          </a:xfrm>
          <a:prstGeom prst="rect">
            <a:avLst/>
          </a:prstGeom>
          <a:noFill/>
        </p:spPr>
        <p:txBody>
          <a:bodyPr wrap="square">
            <a:spAutoFit/>
          </a:bodyPr>
          <a:lstStyle/>
          <a:p>
            <a:pPr algn="l"/>
            <a:r>
              <a:rPr sz="1400" b="1">
                <a:solidFill>
                  <a:srgbClr val="00D48A"/>
                </a:solidFill>
                <a:latin typeface="Calibri"/>
              </a:rPr>
              <a:t>redteam.txt.gz</a:t>
            </a:r>
          </a:p>
        </p:txBody>
      </p:sp>
      <p:sp>
        <p:nvSpPr>
          <p:cNvPr id="24" name="TextBox 23"/>
          <p:cNvSpPr txBox="1"/>
          <p:nvPr/>
        </p:nvSpPr>
        <p:spPr>
          <a:xfrm>
            <a:off x="2606040" y="4315968"/>
            <a:ext cx="822960" cy="320040"/>
          </a:xfrm>
          <a:prstGeom prst="rect">
            <a:avLst/>
          </a:prstGeom>
          <a:noFill/>
        </p:spPr>
        <p:txBody>
          <a:bodyPr wrap="square">
            <a:spAutoFit/>
          </a:bodyPr>
          <a:lstStyle/>
          <a:p>
            <a:pPr algn="l"/>
            <a:r>
              <a:rPr sz="1400" b="1">
                <a:solidFill>
                  <a:srgbClr val="FFB800"/>
                </a:solidFill>
                <a:latin typeface="Calibri"/>
              </a:rPr>
              <a:t>4.7 KB</a:t>
            </a:r>
          </a:p>
        </p:txBody>
      </p:sp>
      <p:sp>
        <p:nvSpPr>
          <p:cNvPr id="25" name="TextBox 24"/>
          <p:cNvSpPr txBox="1"/>
          <p:nvPr/>
        </p:nvSpPr>
        <p:spPr>
          <a:xfrm>
            <a:off x="548640" y="4617720"/>
            <a:ext cx="5212080" cy="256032"/>
          </a:xfrm>
          <a:prstGeom prst="rect">
            <a:avLst/>
          </a:prstGeom>
          <a:noFill/>
        </p:spPr>
        <p:txBody>
          <a:bodyPr wrap="square">
            <a:spAutoFit/>
          </a:bodyPr>
          <a:lstStyle/>
          <a:p>
            <a:pPr algn="l"/>
            <a:r>
              <a:rPr sz="1200" b="0">
                <a:solidFill>
                  <a:srgbClr val="9CA3AF"/>
                </a:solidFill>
                <a:latin typeface="Calibri"/>
              </a:rPr>
              <a:t>Ground-truth attack labels — 596 compromised host-hours</a:t>
            </a:r>
          </a:p>
        </p:txBody>
      </p:sp>
      <p:sp>
        <p:nvSpPr>
          <p:cNvPr id="26" name="Rectangle 25"/>
          <p:cNvSpPr/>
          <p:nvPr/>
        </p:nvSpPr>
        <p:spPr>
          <a:xfrm>
            <a:off x="6492240" y="1417320"/>
            <a:ext cx="5212080" cy="9144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629400" y="1508760"/>
            <a:ext cx="4937760" cy="365760"/>
          </a:xfrm>
          <a:prstGeom prst="rect">
            <a:avLst/>
          </a:prstGeom>
          <a:noFill/>
        </p:spPr>
        <p:txBody>
          <a:bodyPr wrap="square">
            <a:spAutoFit/>
          </a:bodyPr>
          <a:lstStyle/>
          <a:p>
            <a:pPr algn="l"/>
            <a:r>
              <a:rPr sz="1300" b="0">
                <a:solidFill>
                  <a:srgbClr val="9CA3AF"/>
                </a:solidFill>
                <a:latin typeface="Calibri"/>
              </a:rPr>
              <a:t>Total host-hour rows</a:t>
            </a:r>
          </a:p>
        </p:txBody>
      </p:sp>
      <p:sp>
        <p:nvSpPr>
          <p:cNvPr id="28" name="TextBox 27"/>
          <p:cNvSpPr txBox="1"/>
          <p:nvPr/>
        </p:nvSpPr>
        <p:spPr>
          <a:xfrm>
            <a:off x="6629400" y="1746504"/>
            <a:ext cx="4937760" cy="502920"/>
          </a:xfrm>
          <a:prstGeom prst="rect">
            <a:avLst/>
          </a:prstGeom>
          <a:noFill/>
        </p:spPr>
        <p:txBody>
          <a:bodyPr wrap="square">
            <a:spAutoFit/>
          </a:bodyPr>
          <a:lstStyle/>
          <a:p>
            <a:pPr algn="l"/>
            <a:r>
              <a:rPr sz="2200" b="1" dirty="0">
                <a:solidFill>
                  <a:srgbClr val="00D48A"/>
                </a:solidFill>
                <a:latin typeface="Calibri"/>
              </a:rPr>
              <a:t>13.9 million</a:t>
            </a:r>
          </a:p>
        </p:txBody>
      </p:sp>
      <p:sp>
        <p:nvSpPr>
          <p:cNvPr id="29" name="TextBox 28"/>
          <p:cNvSpPr txBox="1"/>
          <p:nvPr/>
        </p:nvSpPr>
        <p:spPr>
          <a:xfrm>
            <a:off x="6629400" y="2286000"/>
            <a:ext cx="4937760" cy="365760"/>
          </a:xfrm>
          <a:prstGeom prst="rect">
            <a:avLst/>
          </a:prstGeom>
          <a:noFill/>
        </p:spPr>
        <p:txBody>
          <a:bodyPr wrap="square">
            <a:spAutoFit/>
          </a:bodyPr>
          <a:lstStyle/>
          <a:p>
            <a:pPr algn="l"/>
            <a:r>
              <a:rPr sz="1200" b="0" dirty="0">
                <a:solidFill>
                  <a:srgbClr val="9CA3AF"/>
                </a:solidFill>
                <a:latin typeface="Calibri"/>
              </a:rPr>
              <a:t>After Spark aggregation</a:t>
            </a:r>
          </a:p>
        </p:txBody>
      </p:sp>
      <p:sp>
        <p:nvSpPr>
          <p:cNvPr id="30" name="Rectangle 29"/>
          <p:cNvSpPr/>
          <p:nvPr/>
        </p:nvSpPr>
        <p:spPr>
          <a:xfrm>
            <a:off x="6492240" y="2596896"/>
            <a:ext cx="5212080" cy="740664"/>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610612"/>
            <a:ext cx="4937760" cy="365760"/>
          </a:xfrm>
          <a:prstGeom prst="rect">
            <a:avLst/>
          </a:prstGeom>
          <a:noFill/>
        </p:spPr>
        <p:txBody>
          <a:bodyPr wrap="square">
            <a:spAutoFit/>
          </a:bodyPr>
          <a:lstStyle/>
          <a:p>
            <a:pPr algn="l"/>
            <a:r>
              <a:rPr sz="1300" b="0">
                <a:solidFill>
                  <a:srgbClr val="9CA3AF"/>
                </a:solidFill>
                <a:latin typeface="Calibri"/>
              </a:rPr>
              <a:t>Attack labels (positives)</a:t>
            </a:r>
          </a:p>
        </p:txBody>
      </p:sp>
      <p:sp>
        <p:nvSpPr>
          <p:cNvPr id="32" name="TextBox 31"/>
          <p:cNvSpPr txBox="1"/>
          <p:nvPr/>
        </p:nvSpPr>
        <p:spPr>
          <a:xfrm>
            <a:off x="6629400" y="2834640"/>
            <a:ext cx="4937760" cy="502920"/>
          </a:xfrm>
          <a:prstGeom prst="rect">
            <a:avLst/>
          </a:prstGeom>
          <a:noFill/>
        </p:spPr>
        <p:txBody>
          <a:bodyPr wrap="square">
            <a:spAutoFit/>
          </a:bodyPr>
          <a:lstStyle/>
          <a:p>
            <a:pPr algn="l"/>
            <a:r>
              <a:rPr sz="2200" b="1">
                <a:solidFill>
                  <a:srgbClr val="00D48A"/>
                </a:solidFill>
                <a:latin typeface="Calibri"/>
              </a:rPr>
              <a:t>596</a:t>
            </a:r>
          </a:p>
        </p:txBody>
      </p:sp>
      <p:sp>
        <p:nvSpPr>
          <p:cNvPr id="33" name="TextBox 32"/>
          <p:cNvSpPr txBox="1"/>
          <p:nvPr/>
        </p:nvSpPr>
        <p:spPr>
          <a:xfrm>
            <a:off x="6629400" y="3291840"/>
            <a:ext cx="4937760" cy="365760"/>
          </a:xfrm>
          <a:prstGeom prst="rect">
            <a:avLst/>
          </a:prstGeom>
          <a:noFill/>
        </p:spPr>
        <p:txBody>
          <a:bodyPr wrap="square">
            <a:spAutoFit/>
          </a:bodyPr>
          <a:lstStyle/>
          <a:p>
            <a:pPr algn="l"/>
            <a:r>
              <a:rPr sz="1200" b="0">
                <a:solidFill>
                  <a:srgbClr val="9CA3AF"/>
                </a:solidFill>
                <a:latin typeface="Calibri"/>
              </a:rPr>
              <a:t>0.0043% positive rate</a:t>
            </a:r>
          </a:p>
        </p:txBody>
      </p:sp>
      <p:sp>
        <p:nvSpPr>
          <p:cNvPr id="34" name="Rectangle 33"/>
          <p:cNvSpPr/>
          <p:nvPr/>
        </p:nvSpPr>
        <p:spPr>
          <a:xfrm>
            <a:off x="6492240" y="3557016"/>
            <a:ext cx="5212080" cy="786384"/>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29400" y="3584448"/>
            <a:ext cx="4937760" cy="365760"/>
          </a:xfrm>
          <a:prstGeom prst="rect">
            <a:avLst/>
          </a:prstGeom>
          <a:noFill/>
        </p:spPr>
        <p:txBody>
          <a:bodyPr wrap="square">
            <a:spAutoFit/>
          </a:bodyPr>
          <a:lstStyle/>
          <a:p>
            <a:pPr algn="l"/>
            <a:r>
              <a:rPr sz="1300" b="0" dirty="0">
                <a:solidFill>
                  <a:srgbClr val="9CA3AF"/>
                </a:solidFill>
                <a:latin typeface="Calibri"/>
              </a:rPr>
              <a:t>Dataset size (raw)</a:t>
            </a:r>
          </a:p>
        </p:txBody>
      </p:sp>
      <p:sp>
        <p:nvSpPr>
          <p:cNvPr id="36" name="TextBox 35"/>
          <p:cNvSpPr txBox="1"/>
          <p:nvPr/>
        </p:nvSpPr>
        <p:spPr>
          <a:xfrm>
            <a:off x="6629400" y="3794760"/>
            <a:ext cx="4937760" cy="502920"/>
          </a:xfrm>
          <a:prstGeom prst="rect">
            <a:avLst/>
          </a:prstGeom>
          <a:noFill/>
        </p:spPr>
        <p:txBody>
          <a:bodyPr wrap="square">
            <a:spAutoFit/>
          </a:bodyPr>
          <a:lstStyle/>
          <a:p>
            <a:pPr algn="l"/>
            <a:r>
              <a:rPr sz="2200" b="1" dirty="0">
                <a:solidFill>
                  <a:srgbClr val="00D48A"/>
                </a:solidFill>
                <a:latin typeface="Calibri"/>
              </a:rPr>
              <a:t>~11 GB compressed</a:t>
            </a:r>
          </a:p>
        </p:txBody>
      </p:sp>
      <p:sp>
        <p:nvSpPr>
          <p:cNvPr id="37" name="TextBox 36"/>
          <p:cNvSpPr txBox="1"/>
          <p:nvPr/>
        </p:nvSpPr>
        <p:spPr>
          <a:xfrm>
            <a:off x="6629400" y="4297680"/>
            <a:ext cx="4937760" cy="365760"/>
          </a:xfrm>
          <a:prstGeom prst="rect">
            <a:avLst/>
          </a:prstGeom>
          <a:noFill/>
        </p:spPr>
        <p:txBody>
          <a:bodyPr wrap="square">
            <a:spAutoFit/>
          </a:bodyPr>
          <a:lstStyle/>
          <a:p>
            <a:pPr algn="l"/>
            <a:r>
              <a:rPr sz="1200" b="0">
                <a:solidFill>
                  <a:srgbClr val="9CA3AF"/>
                </a:solidFill>
                <a:latin typeface="Calibri"/>
              </a:rPr>
              <a:t>58 days of telemetry</a:t>
            </a:r>
          </a:p>
        </p:txBody>
      </p:sp>
      <p:sp>
        <p:nvSpPr>
          <p:cNvPr id="38" name="Rectangle 37"/>
          <p:cNvSpPr/>
          <p:nvPr/>
        </p:nvSpPr>
        <p:spPr>
          <a:xfrm>
            <a:off x="6492240" y="4608576"/>
            <a:ext cx="5212080" cy="740664"/>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629400" y="4622292"/>
            <a:ext cx="4937760" cy="365760"/>
          </a:xfrm>
          <a:prstGeom prst="rect">
            <a:avLst/>
          </a:prstGeom>
          <a:noFill/>
        </p:spPr>
        <p:txBody>
          <a:bodyPr wrap="square">
            <a:spAutoFit/>
          </a:bodyPr>
          <a:lstStyle/>
          <a:p>
            <a:pPr algn="l"/>
            <a:r>
              <a:rPr sz="1300" b="0" dirty="0">
                <a:solidFill>
                  <a:srgbClr val="9CA3AF"/>
                </a:solidFill>
                <a:latin typeface="Calibri"/>
              </a:rPr>
              <a:t>Random PR AUC baseline</a:t>
            </a:r>
          </a:p>
        </p:txBody>
      </p:sp>
      <p:sp>
        <p:nvSpPr>
          <p:cNvPr id="40" name="TextBox 39"/>
          <p:cNvSpPr txBox="1"/>
          <p:nvPr/>
        </p:nvSpPr>
        <p:spPr>
          <a:xfrm>
            <a:off x="6629400" y="4846320"/>
            <a:ext cx="4937760" cy="502920"/>
          </a:xfrm>
          <a:prstGeom prst="rect">
            <a:avLst/>
          </a:prstGeom>
          <a:noFill/>
        </p:spPr>
        <p:txBody>
          <a:bodyPr wrap="square">
            <a:spAutoFit/>
          </a:bodyPr>
          <a:lstStyle/>
          <a:p>
            <a:pPr algn="l"/>
            <a:r>
              <a:rPr sz="2200" b="1">
                <a:solidFill>
                  <a:srgbClr val="00D48A"/>
                </a:solidFill>
                <a:latin typeface="Calibri"/>
              </a:rPr>
              <a:t>0.0000429</a:t>
            </a:r>
          </a:p>
        </p:txBody>
      </p:sp>
      <p:sp>
        <p:nvSpPr>
          <p:cNvPr id="41" name="TextBox 40"/>
          <p:cNvSpPr txBox="1"/>
          <p:nvPr/>
        </p:nvSpPr>
        <p:spPr>
          <a:xfrm>
            <a:off x="6629400" y="5303520"/>
            <a:ext cx="4937760" cy="365760"/>
          </a:xfrm>
          <a:prstGeom prst="rect">
            <a:avLst/>
          </a:prstGeom>
          <a:noFill/>
        </p:spPr>
        <p:txBody>
          <a:bodyPr wrap="square">
            <a:spAutoFit/>
          </a:bodyPr>
          <a:lstStyle/>
          <a:p>
            <a:pPr algn="l"/>
            <a:r>
              <a:rPr sz="1200" b="0">
                <a:solidFill>
                  <a:srgbClr val="9CA3AF"/>
                </a:solidFill>
                <a:latin typeface="Calibri"/>
              </a:rPr>
              <a:t>= positive rate (the floor to beat)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825"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87" y="480060"/>
            <a:ext cx="11235050"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D0755092-D128-6472-238D-CF21722090D3}"/>
              </a:ext>
            </a:extLst>
          </p:cNvPr>
          <p:cNvGraphicFramePr>
            <a:graphicFrameLocks noGrp="1"/>
          </p:cNvGraphicFramePr>
          <p:nvPr>
            <p:extLst>
              <p:ext uri="{D42A27DB-BD31-4B8C-83A1-F6EECF244321}">
                <p14:modId xmlns:p14="http://schemas.microsoft.com/office/powerpoint/2010/main" val="2806029745"/>
              </p:ext>
            </p:extLst>
          </p:nvPr>
        </p:nvGraphicFramePr>
        <p:xfrm>
          <a:off x="643299" y="808363"/>
          <a:ext cx="10902226" cy="5241280"/>
        </p:xfrm>
        <a:graphic>
          <a:graphicData uri="http://schemas.openxmlformats.org/drawingml/2006/table">
            <a:tbl>
              <a:tblPr>
                <a:solidFill>
                  <a:schemeClr val="bg1">
                    <a:lumMod val="95000"/>
                  </a:schemeClr>
                </a:solidFill>
              </a:tblPr>
              <a:tblGrid>
                <a:gridCol w="4254565">
                  <a:extLst>
                    <a:ext uri="{9D8B030D-6E8A-4147-A177-3AD203B41FA5}">
                      <a16:colId xmlns:a16="http://schemas.microsoft.com/office/drawing/2014/main" val="1149739797"/>
                    </a:ext>
                  </a:extLst>
                </a:gridCol>
                <a:gridCol w="3231563">
                  <a:extLst>
                    <a:ext uri="{9D8B030D-6E8A-4147-A177-3AD203B41FA5}">
                      <a16:colId xmlns:a16="http://schemas.microsoft.com/office/drawing/2014/main" val="1492107455"/>
                    </a:ext>
                  </a:extLst>
                </a:gridCol>
                <a:gridCol w="3416098">
                  <a:extLst>
                    <a:ext uri="{9D8B030D-6E8A-4147-A177-3AD203B41FA5}">
                      <a16:colId xmlns:a16="http://schemas.microsoft.com/office/drawing/2014/main" val="8671679"/>
                    </a:ext>
                  </a:extLst>
                </a:gridCol>
              </a:tblGrid>
              <a:tr h="406224">
                <a:tc>
                  <a:txBody>
                    <a:bodyPr/>
                    <a:lstStyle/>
                    <a:p>
                      <a:pPr>
                        <a:buNone/>
                      </a:pPr>
                      <a:r>
                        <a:rPr lang="en-US" sz="1300" cap="none" spc="0">
                          <a:solidFill>
                            <a:schemeClr val="tx1"/>
                          </a:solidFill>
                        </a:rPr>
                        <a:t>Variable</a:t>
                      </a:r>
                    </a:p>
                  </a:txBody>
                  <a:tcPr marL="69355" marR="53607" marT="19816" marB="148618" anchor="ctr">
                    <a:lnL w="12700" cap="flat" cmpd="sng" algn="ctr">
                      <a:solidFill>
                        <a:schemeClr val="tx1"/>
                      </a:solidFill>
                      <a:prstDash val="solid"/>
                    </a:lnL>
                    <a:lnR w="12700" cmpd="sng">
                      <a:noFill/>
                      <a:prstDash val="solid"/>
                    </a:lnR>
                    <a:lnT w="9525" cap="flat" cmpd="sng" algn="ctr">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Meaning</a:t>
                      </a:r>
                    </a:p>
                  </a:txBody>
                  <a:tcPr marL="69355" marR="53607" marT="19816" marB="148618" anchor="ctr">
                    <a:lnL w="12700" cmpd="sng">
                      <a:noFill/>
                      <a:prstDash val="solid"/>
                    </a:lnL>
                    <a:lnR w="12700" cmpd="sng">
                      <a:noFill/>
                      <a:prstDash val="solid"/>
                    </a:lnR>
                    <a:lnT w="9525" cap="flat" cmpd="sng" algn="ctr">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Why it matters</a:t>
                      </a:r>
                    </a:p>
                  </a:txBody>
                  <a:tcPr marL="69355" marR="53607" marT="19816" marB="148618" anchor="ctr">
                    <a:lnL w="12700" cmpd="sng">
                      <a:noFill/>
                      <a:prstDash val="solid"/>
                    </a:lnL>
                    <a:lnR w="12700" cmpd="sng">
                      <a:noFill/>
                      <a:prstDash val="solid"/>
                    </a:lnR>
                    <a:lnT w="9525"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966544867"/>
                  </a:ext>
                </a:extLst>
              </a:tr>
              <a:tr h="604382">
                <a:tc>
                  <a:txBody>
                    <a:bodyPr/>
                    <a:lstStyle/>
                    <a:p>
                      <a:pPr>
                        <a:buNone/>
                      </a:pPr>
                      <a:r>
                        <a:rPr lang="en-US" sz="1300" cap="none" spc="0">
                          <a:solidFill>
                            <a:schemeClr val="tx1"/>
                          </a:solidFill>
                          <a:latin typeface="Courier New" panose="02070309020205020404" pitchFamily="49" charset="0"/>
                        </a:rPr>
                        <a:t>auth_total</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Total number of authentication events for this computer-hour</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Measures login activity volume</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491359082"/>
                  </a:ext>
                </a:extLst>
              </a:tr>
              <a:tr h="604382">
                <a:tc>
                  <a:txBody>
                    <a:bodyPr/>
                    <a:lstStyle/>
                    <a:p>
                      <a:pPr>
                        <a:buNone/>
                      </a:pPr>
                      <a:r>
                        <a:rPr lang="en-US" sz="1300" cap="none" spc="0">
                          <a:solidFill>
                            <a:schemeClr val="tx1"/>
                          </a:solidFill>
                          <a:latin typeface="Courier New" panose="02070309020205020404" pitchFamily="49" charset="0"/>
                        </a:rPr>
                        <a:t>auth_inbound_count</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Other machines/users logging into this computer</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Could mean this computer is being accessed</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2884822963"/>
                  </a:ext>
                </a:extLst>
              </a:tr>
              <a:tr h="604382">
                <a:tc>
                  <a:txBody>
                    <a:bodyPr/>
                    <a:lstStyle/>
                    <a:p>
                      <a:pPr>
                        <a:buNone/>
                      </a:pPr>
                      <a:r>
                        <a:rPr lang="en-US" sz="1300" cap="none" spc="0">
                          <a:solidFill>
                            <a:schemeClr val="tx1"/>
                          </a:solidFill>
                          <a:latin typeface="Courier New" panose="02070309020205020404" pitchFamily="49" charset="0"/>
                        </a:rPr>
                        <a:t>auth_outbound_count</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This computer logging into other computers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Important for lateral movement</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408785462"/>
                  </a:ext>
                </a:extLst>
              </a:tr>
              <a:tr h="604382">
                <a:tc>
                  <a:txBody>
                    <a:bodyPr/>
                    <a:lstStyle/>
                    <a:p>
                      <a:pPr>
                        <a:buNone/>
                      </a:pPr>
                      <a:r>
                        <a:rPr lang="en-US" sz="1300" cap="none" spc="0" err="1">
                          <a:solidFill>
                            <a:schemeClr val="tx1"/>
                          </a:solidFill>
                          <a:latin typeface="Courier New" panose="02070309020205020404" pitchFamily="49" charset="0"/>
                        </a:rPr>
                        <a:t>auth_unique_sources</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different source computers/users trying to authenticate</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Many sources may mean broad access activity</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014334618"/>
                  </a:ext>
                </a:extLst>
              </a:tr>
              <a:tr h="604382">
                <a:tc>
                  <a:txBody>
                    <a:bodyPr/>
                    <a:lstStyle/>
                    <a:p>
                      <a:pPr>
                        <a:buNone/>
                      </a:pPr>
                      <a:r>
                        <a:rPr lang="en-US" sz="1300" cap="none" spc="0">
                          <a:solidFill>
                            <a:schemeClr val="tx1"/>
                          </a:solidFill>
                          <a:latin typeface="Courier New" panose="02070309020205020404" pitchFamily="49" charset="0"/>
                        </a:rPr>
                        <a:t>auth_unique_destinations</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different computers this machine tries to reach</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A machine touching many destinations may be scanning or moving laterally</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044368850"/>
                  </a:ext>
                </a:extLst>
              </a:tr>
              <a:tr h="802540">
                <a:tc>
                  <a:txBody>
                    <a:bodyPr/>
                    <a:lstStyle/>
                    <a:p>
                      <a:pPr>
                        <a:buNone/>
                      </a:pPr>
                      <a:r>
                        <a:rPr lang="en-US" sz="1300" cap="none" spc="0">
                          <a:solidFill>
                            <a:schemeClr val="tx1"/>
                          </a:solidFill>
                          <a:latin typeface="Courier New" panose="02070309020205020404" pitchFamily="49" charset="0"/>
                        </a:rPr>
                        <a:t>auth_failure_count</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failed logins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Failed attempts can suggest guessing, scanning, misconfiguration, or attack attempts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674287277"/>
                  </a:ext>
                </a:extLst>
              </a:tr>
              <a:tr h="406224">
                <a:tc>
                  <a:txBody>
                    <a:bodyPr/>
                    <a:lstStyle/>
                    <a:p>
                      <a:pPr>
                        <a:buNone/>
                      </a:pPr>
                      <a:r>
                        <a:rPr lang="en-US" sz="1300" cap="none" spc="0">
                          <a:solidFill>
                            <a:schemeClr val="tx1"/>
                          </a:solidFill>
                          <a:latin typeface="Courier New" panose="02070309020205020404" pitchFamily="49" charset="0"/>
                        </a:rPr>
                        <a:t>auth_failure_ratio</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Fraction of auth attempts that failed</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Normalizes failure count by total attempts</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668592404"/>
                  </a:ext>
                </a:extLst>
              </a:tr>
              <a:tr h="604382">
                <a:tc>
                  <a:txBody>
                    <a:bodyPr/>
                    <a:lstStyle/>
                    <a:p>
                      <a:pPr>
                        <a:buNone/>
                      </a:pPr>
                      <a:r>
                        <a:rPr lang="en-US" sz="1300" cap="none" spc="0">
                          <a:solidFill>
                            <a:schemeClr val="tx1"/>
                          </a:solidFill>
                          <a:latin typeface="Courier New" panose="02070309020205020404" pitchFamily="49" charset="0"/>
                        </a:rPr>
                        <a:t>auth_unique_users</a:t>
                      </a:r>
                      <a:endParaRPr lang="en-US" sz="1300" cap="none" spc="0">
                        <a:solidFill>
                          <a:schemeClr val="tx1"/>
                        </a:solidFill>
                      </a:endParaRPr>
                    </a:p>
                  </a:txBody>
                  <a:tcPr marL="69355" marR="53607" marT="19816" marB="148618" anchor="ctr">
                    <a:lnL w="12700" cap="flat" cmpd="sng" algn="ctr">
                      <a:solidFill>
                        <a:schemeClr val="tx1"/>
                      </a:solid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Number of different users involved in auth activity</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1300" cap="none" spc="0">
                          <a:solidFill>
                            <a:schemeClr val="tx1"/>
                          </a:solidFill>
                        </a:rPr>
                        <a:t>Many users tied to one host may be unusual</a:t>
                      </a:r>
                    </a:p>
                  </a:txBody>
                  <a:tcPr marL="69355" marR="53607" marT="19816" marB="14861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3833157527"/>
                  </a:ext>
                </a:extLst>
              </a:tr>
            </a:tbl>
          </a:graphicData>
        </a:graphic>
      </p:graphicFrame>
    </p:spTree>
    <p:extLst>
      <p:ext uri="{BB962C8B-B14F-4D97-AF65-F5344CB8AC3E}">
        <p14:creationId xmlns:p14="http://schemas.microsoft.com/office/powerpoint/2010/main" val="2521557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Cleaning, EDA &amp; Feature Engineering</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Bronze → Silver → Gold (Apache Spark on EMR)</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4/12</a:t>
            </a:r>
          </a:p>
        </p:txBody>
      </p:sp>
      <p:sp>
        <p:nvSpPr>
          <p:cNvPr id="6" name="Rectangle 5"/>
          <p:cNvSpPr/>
          <p:nvPr/>
        </p:nvSpPr>
        <p:spPr>
          <a:xfrm>
            <a:off x="365760" y="1417320"/>
            <a:ext cx="539496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5029200" cy="347472"/>
          </a:xfrm>
          <a:prstGeom prst="rect">
            <a:avLst/>
          </a:prstGeom>
          <a:noFill/>
        </p:spPr>
        <p:txBody>
          <a:bodyPr wrap="square">
            <a:spAutoFit/>
          </a:bodyPr>
          <a:lstStyle/>
          <a:p>
            <a:pPr algn="l"/>
            <a:r>
              <a:rPr sz="1600" b="1">
                <a:solidFill>
                  <a:srgbClr val="00D48A"/>
                </a:solidFill>
                <a:latin typeface="Calibri"/>
              </a:rPr>
              <a:t>Bronze — Raw S3</a:t>
            </a:r>
          </a:p>
        </p:txBody>
      </p:sp>
      <p:sp>
        <p:nvSpPr>
          <p:cNvPr id="8" name="TextBox 7"/>
          <p:cNvSpPr txBox="1"/>
          <p:nvPr/>
        </p:nvSpPr>
        <p:spPr>
          <a:xfrm>
            <a:off x="548640" y="1801368"/>
            <a:ext cx="5029200" cy="329184"/>
          </a:xfrm>
          <a:prstGeom prst="rect">
            <a:avLst/>
          </a:prstGeom>
          <a:noFill/>
        </p:spPr>
        <p:txBody>
          <a:bodyPr wrap="square">
            <a:spAutoFit/>
          </a:bodyPr>
          <a:lstStyle/>
          <a:p>
            <a:pPr algn="l"/>
            <a:r>
              <a:rPr sz="1200" b="0">
                <a:solidFill>
                  <a:srgbClr val="9CA3AF"/>
                </a:solidFill>
                <a:latin typeface="Calibri"/>
              </a:rPr>
              <a:t>11 GB raw .txt.gz files, schema-cast, no modification</a:t>
            </a:r>
          </a:p>
        </p:txBody>
      </p:sp>
      <p:sp>
        <p:nvSpPr>
          <p:cNvPr id="9" name="Rectangle 8"/>
          <p:cNvSpPr/>
          <p:nvPr/>
        </p:nvSpPr>
        <p:spPr>
          <a:xfrm>
            <a:off x="365760" y="2286000"/>
            <a:ext cx="539496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331720"/>
            <a:ext cx="5029200" cy="347472"/>
          </a:xfrm>
          <a:prstGeom prst="rect">
            <a:avLst/>
          </a:prstGeom>
          <a:noFill/>
        </p:spPr>
        <p:txBody>
          <a:bodyPr wrap="square">
            <a:spAutoFit/>
          </a:bodyPr>
          <a:lstStyle/>
          <a:p>
            <a:pPr algn="l"/>
            <a:r>
              <a:rPr sz="1600" b="1">
                <a:solidFill>
                  <a:srgbClr val="00D48A"/>
                </a:solidFill>
                <a:latin typeface="Calibri"/>
              </a:rPr>
              <a:t>Silver — Cleaned</a:t>
            </a:r>
          </a:p>
        </p:txBody>
      </p:sp>
      <p:sp>
        <p:nvSpPr>
          <p:cNvPr id="11" name="TextBox 10"/>
          <p:cNvSpPr txBox="1"/>
          <p:nvPr/>
        </p:nvSpPr>
        <p:spPr>
          <a:xfrm>
            <a:off x="548640" y="2670048"/>
            <a:ext cx="5029200" cy="329184"/>
          </a:xfrm>
          <a:prstGeom prst="rect">
            <a:avLst/>
          </a:prstGeom>
          <a:noFill/>
        </p:spPr>
        <p:txBody>
          <a:bodyPr wrap="square">
            <a:spAutoFit/>
          </a:bodyPr>
          <a:lstStyle/>
          <a:p>
            <a:pPr algn="l"/>
            <a:r>
              <a:rPr sz="1200" b="0">
                <a:solidFill>
                  <a:srgbClr val="9CA3AF"/>
                </a:solidFill>
                <a:latin typeface="Calibri"/>
              </a:rPr>
              <a:t>Spark ETL: type coercion fix, whitespace trim, partition by day</a:t>
            </a:r>
          </a:p>
        </p:txBody>
      </p:sp>
      <p:sp>
        <p:nvSpPr>
          <p:cNvPr id="12" name="Rectangle 11"/>
          <p:cNvSpPr/>
          <p:nvPr/>
        </p:nvSpPr>
        <p:spPr>
          <a:xfrm>
            <a:off x="365760" y="3154680"/>
            <a:ext cx="539496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200400"/>
            <a:ext cx="5029200" cy="347472"/>
          </a:xfrm>
          <a:prstGeom prst="rect">
            <a:avLst/>
          </a:prstGeom>
          <a:noFill/>
        </p:spPr>
        <p:txBody>
          <a:bodyPr wrap="square">
            <a:spAutoFit/>
          </a:bodyPr>
          <a:lstStyle/>
          <a:p>
            <a:pPr algn="l"/>
            <a:r>
              <a:rPr sz="1600" b="1">
                <a:solidFill>
                  <a:srgbClr val="00D48A"/>
                </a:solidFill>
                <a:latin typeface="Calibri"/>
              </a:rPr>
              <a:t>Gold — 43 Features</a:t>
            </a:r>
          </a:p>
        </p:txBody>
      </p:sp>
      <p:sp>
        <p:nvSpPr>
          <p:cNvPr id="14" name="TextBox 13"/>
          <p:cNvSpPr txBox="1"/>
          <p:nvPr/>
        </p:nvSpPr>
        <p:spPr>
          <a:xfrm>
            <a:off x="548640" y="3538728"/>
            <a:ext cx="5029200" cy="329184"/>
          </a:xfrm>
          <a:prstGeom prst="rect">
            <a:avLst/>
          </a:prstGeom>
          <a:noFill/>
        </p:spPr>
        <p:txBody>
          <a:bodyPr wrap="square">
            <a:spAutoFit/>
          </a:bodyPr>
          <a:lstStyle/>
          <a:p>
            <a:pPr algn="l"/>
            <a:r>
              <a:rPr sz="1200" b="0">
                <a:solidFill>
                  <a:srgbClr val="9CA3AF"/>
                </a:solidFill>
                <a:latin typeface="Calibri"/>
              </a:rPr>
              <a:t>Aggregate per (computer, 1-hour window); join all 5 streams</a:t>
            </a:r>
          </a:p>
        </p:txBody>
      </p:sp>
      <p:sp>
        <p:nvSpPr>
          <p:cNvPr id="15" name="Rectangle 14"/>
          <p:cNvSpPr/>
          <p:nvPr/>
        </p:nvSpPr>
        <p:spPr>
          <a:xfrm>
            <a:off x="365760" y="4160520"/>
            <a:ext cx="5394960" cy="15087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4206240"/>
            <a:ext cx="5029200" cy="320040"/>
          </a:xfrm>
          <a:prstGeom prst="rect">
            <a:avLst/>
          </a:prstGeom>
          <a:noFill/>
        </p:spPr>
        <p:txBody>
          <a:bodyPr wrap="square">
            <a:spAutoFit/>
          </a:bodyPr>
          <a:lstStyle/>
          <a:p>
            <a:pPr algn="l"/>
            <a:r>
              <a:rPr sz="1400" b="1">
                <a:solidFill>
                  <a:srgbClr val="FFB800"/>
                </a:solidFill>
                <a:latin typeface="Calibri"/>
              </a:rPr>
              <a:t>Redundant Features (EDA finding)</a:t>
            </a:r>
          </a:p>
        </p:txBody>
      </p:sp>
      <p:sp>
        <p:nvSpPr>
          <p:cNvPr id="17" name="TextBox 16"/>
          <p:cNvSpPr txBox="1"/>
          <p:nvPr/>
        </p:nvSpPr>
        <p:spPr>
          <a:xfrm>
            <a:off x="548640" y="4572000"/>
            <a:ext cx="5029200" cy="1005840"/>
          </a:xfrm>
          <a:prstGeom prst="rect">
            <a:avLst/>
          </a:prstGeom>
          <a:noFill/>
        </p:spPr>
        <p:txBody>
          <a:bodyPr wrap="square">
            <a:spAutoFit/>
          </a:bodyPr>
          <a:lstStyle/>
          <a:p>
            <a:pPr algn="l"/>
            <a:r>
              <a:rPr sz="1200" b="0">
                <a:solidFill>
                  <a:srgbClr val="9CA3AF"/>
                </a:solidFill>
                <a:latin typeface="Calibri"/>
              </a:rPr>
              <a:t>auth_total vs auth_inbound_count  r = 0.91
flows_bytes_total vs bytes_per_event  correlated
All 43 retained — tree model zeroes out redundant splits via regularization.
Feature importances confirmed near-zero gain for flagged features.</a:t>
            </a:r>
          </a:p>
        </p:txBody>
      </p:sp>
      <p:sp>
        <p:nvSpPr>
          <p:cNvPr id="18" name="Rectangle 17"/>
          <p:cNvSpPr/>
          <p:nvPr/>
        </p:nvSpPr>
        <p:spPr>
          <a:xfrm>
            <a:off x="6217920" y="141732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0" y="1463040"/>
            <a:ext cx="3200400" cy="320040"/>
          </a:xfrm>
          <a:prstGeom prst="rect">
            <a:avLst/>
          </a:prstGeom>
          <a:noFill/>
        </p:spPr>
        <p:txBody>
          <a:bodyPr wrap="square">
            <a:spAutoFit/>
          </a:bodyPr>
          <a:lstStyle/>
          <a:p>
            <a:pPr algn="l"/>
            <a:r>
              <a:rPr sz="1400" b="1">
                <a:solidFill>
                  <a:srgbClr val="FFFFFF"/>
                </a:solidFill>
                <a:latin typeface="Calibri"/>
              </a:rPr>
              <a:t>Auth features</a:t>
            </a:r>
          </a:p>
        </p:txBody>
      </p:sp>
      <p:sp>
        <p:nvSpPr>
          <p:cNvPr id="20" name="TextBox 19"/>
          <p:cNvSpPr txBox="1"/>
          <p:nvPr/>
        </p:nvSpPr>
        <p:spPr>
          <a:xfrm>
            <a:off x="9418320" y="1463040"/>
            <a:ext cx="1371600" cy="320040"/>
          </a:xfrm>
          <a:prstGeom prst="rect">
            <a:avLst/>
          </a:prstGeom>
          <a:noFill/>
        </p:spPr>
        <p:txBody>
          <a:bodyPr wrap="square">
            <a:spAutoFit/>
          </a:bodyPr>
          <a:lstStyle/>
          <a:p>
            <a:pPr algn="l"/>
            <a:r>
              <a:rPr sz="1400" b="1">
                <a:solidFill>
                  <a:srgbClr val="00D48A"/>
                </a:solidFill>
                <a:latin typeface="Calibri"/>
              </a:rPr>
              <a:t>18 features</a:t>
            </a:r>
          </a:p>
        </p:txBody>
      </p:sp>
      <p:sp>
        <p:nvSpPr>
          <p:cNvPr id="21" name="TextBox 20"/>
          <p:cNvSpPr txBox="1"/>
          <p:nvPr/>
        </p:nvSpPr>
        <p:spPr>
          <a:xfrm>
            <a:off x="6400800" y="1801368"/>
            <a:ext cx="5212080" cy="329184"/>
          </a:xfrm>
          <a:prstGeom prst="rect">
            <a:avLst/>
          </a:prstGeom>
          <a:noFill/>
        </p:spPr>
        <p:txBody>
          <a:bodyPr wrap="square">
            <a:spAutoFit/>
          </a:bodyPr>
          <a:lstStyle/>
          <a:p>
            <a:pPr algn="l"/>
            <a:r>
              <a:rPr sz="1100" b="0">
                <a:solidFill>
                  <a:srgbClr val="9CA3AF"/>
                </a:solidFill>
                <a:latin typeface="Calibri"/>
              </a:rPr>
              <a:t>Failure rates, unique sources/dests, inbound vs outbound</a:t>
            </a:r>
          </a:p>
        </p:txBody>
      </p:sp>
      <p:sp>
        <p:nvSpPr>
          <p:cNvPr id="22" name="Rectangle 21"/>
          <p:cNvSpPr/>
          <p:nvPr/>
        </p:nvSpPr>
        <p:spPr>
          <a:xfrm>
            <a:off x="6217920" y="228600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0" y="2331720"/>
            <a:ext cx="3200400" cy="320040"/>
          </a:xfrm>
          <a:prstGeom prst="rect">
            <a:avLst/>
          </a:prstGeom>
          <a:noFill/>
        </p:spPr>
        <p:txBody>
          <a:bodyPr wrap="square">
            <a:spAutoFit/>
          </a:bodyPr>
          <a:lstStyle/>
          <a:p>
            <a:pPr algn="l"/>
            <a:r>
              <a:rPr sz="1400" b="1">
                <a:solidFill>
                  <a:srgbClr val="FFFFFF"/>
                </a:solidFill>
                <a:latin typeface="Calibri"/>
              </a:rPr>
              <a:t>Flow features</a:t>
            </a:r>
          </a:p>
        </p:txBody>
      </p:sp>
      <p:sp>
        <p:nvSpPr>
          <p:cNvPr id="24" name="TextBox 23"/>
          <p:cNvSpPr txBox="1"/>
          <p:nvPr/>
        </p:nvSpPr>
        <p:spPr>
          <a:xfrm>
            <a:off x="9418320" y="2331720"/>
            <a:ext cx="1371600" cy="320040"/>
          </a:xfrm>
          <a:prstGeom prst="rect">
            <a:avLst/>
          </a:prstGeom>
          <a:noFill/>
        </p:spPr>
        <p:txBody>
          <a:bodyPr wrap="square">
            <a:spAutoFit/>
          </a:bodyPr>
          <a:lstStyle/>
          <a:p>
            <a:pPr algn="l"/>
            <a:r>
              <a:rPr sz="1400" b="1">
                <a:solidFill>
                  <a:srgbClr val="00D48A"/>
                </a:solidFill>
                <a:latin typeface="Calibri"/>
              </a:rPr>
              <a:t>7 features</a:t>
            </a:r>
          </a:p>
        </p:txBody>
      </p:sp>
      <p:sp>
        <p:nvSpPr>
          <p:cNvPr id="25" name="TextBox 24"/>
          <p:cNvSpPr txBox="1"/>
          <p:nvPr/>
        </p:nvSpPr>
        <p:spPr>
          <a:xfrm>
            <a:off x="6400800" y="2670048"/>
            <a:ext cx="5212080" cy="329184"/>
          </a:xfrm>
          <a:prstGeom prst="rect">
            <a:avLst/>
          </a:prstGeom>
          <a:noFill/>
        </p:spPr>
        <p:txBody>
          <a:bodyPr wrap="square">
            <a:spAutoFit/>
          </a:bodyPr>
          <a:lstStyle/>
          <a:p>
            <a:pPr algn="l"/>
            <a:r>
              <a:rPr sz="1100" b="0">
                <a:solidFill>
                  <a:srgbClr val="9CA3AF"/>
                </a:solidFill>
                <a:latin typeface="Calibri"/>
              </a:rPr>
              <a:t>Bytes, packets, flow counts, bytes-per-event</a:t>
            </a:r>
          </a:p>
        </p:txBody>
      </p:sp>
      <p:sp>
        <p:nvSpPr>
          <p:cNvPr id="26" name="Rectangle 25"/>
          <p:cNvSpPr/>
          <p:nvPr/>
        </p:nvSpPr>
        <p:spPr>
          <a:xfrm>
            <a:off x="6217920" y="315468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0" y="3200400"/>
            <a:ext cx="3200400" cy="320040"/>
          </a:xfrm>
          <a:prstGeom prst="rect">
            <a:avLst/>
          </a:prstGeom>
          <a:noFill/>
        </p:spPr>
        <p:txBody>
          <a:bodyPr wrap="square">
            <a:spAutoFit/>
          </a:bodyPr>
          <a:lstStyle/>
          <a:p>
            <a:pPr algn="l"/>
            <a:r>
              <a:rPr sz="1400" b="1">
                <a:solidFill>
                  <a:srgbClr val="FFFFFF"/>
                </a:solidFill>
                <a:latin typeface="Calibri"/>
              </a:rPr>
              <a:t>DNS features</a:t>
            </a:r>
          </a:p>
        </p:txBody>
      </p:sp>
      <p:sp>
        <p:nvSpPr>
          <p:cNvPr id="28" name="TextBox 27"/>
          <p:cNvSpPr txBox="1"/>
          <p:nvPr/>
        </p:nvSpPr>
        <p:spPr>
          <a:xfrm>
            <a:off x="9418320" y="3200400"/>
            <a:ext cx="1371600" cy="320040"/>
          </a:xfrm>
          <a:prstGeom prst="rect">
            <a:avLst/>
          </a:prstGeom>
          <a:noFill/>
        </p:spPr>
        <p:txBody>
          <a:bodyPr wrap="square">
            <a:spAutoFit/>
          </a:bodyPr>
          <a:lstStyle/>
          <a:p>
            <a:pPr algn="l"/>
            <a:r>
              <a:rPr sz="1400" b="1">
                <a:solidFill>
                  <a:srgbClr val="00D48A"/>
                </a:solidFill>
                <a:latin typeface="Calibri"/>
              </a:rPr>
              <a:t>3 features</a:t>
            </a:r>
          </a:p>
        </p:txBody>
      </p:sp>
      <p:sp>
        <p:nvSpPr>
          <p:cNvPr id="29" name="TextBox 28"/>
          <p:cNvSpPr txBox="1"/>
          <p:nvPr/>
        </p:nvSpPr>
        <p:spPr>
          <a:xfrm>
            <a:off x="6400800" y="3538728"/>
            <a:ext cx="5212080" cy="329184"/>
          </a:xfrm>
          <a:prstGeom prst="rect">
            <a:avLst/>
          </a:prstGeom>
          <a:noFill/>
        </p:spPr>
        <p:txBody>
          <a:bodyPr wrap="square">
            <a:spAutoFit/>
          </a:bodyPr>
          <a:lstStyle/>
          <a:p>
            <a:pPr algn="l"/>
            <a:r>
              <a:rPr sz="1100" b="0">
                <a:solidFill>
                  <a:srgbClr val="9CA3AF"/>
                </a:solidFill>
                <a:latin typeface="Calibri"/>
              </a:rPr>
              <a:t>Lookup counts, unique domains, density</a:t>
            </a:r>
          </a:p>
        </p:txBody>
      </p:sp>
      <p:sp>
        <p:nvSpPr>
          <p:cNvPr id="30" name="Rectangle 29"/>
          <p:cNvSpPr/>
          <p:nvPr/>
        </p:nvSpPr>
        <p:spPr>
          <a:xfrm>
            <a:off x="6217920" y="402336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00800" y="4069080"/>
            <a:ext cx="3200400" cy="320040"/>
          </a:xfrm>
          <a:prstGeom prst="rect">
            <a:avLst/>
          </a:prstGeom>
          <a:noFill/>
        </p:spPr>
        <p:txBody>
          <a:bodyPr wrap="square">
            <a:spAutoFit/>
          </a:bodyPr>
          <a:lstStyle/>
          <a:p>
            <a:pPr algn="l"/>
            <a:r>
              <a:rPr sz="1400" b="1">
                <a:solidFill>
                  <a:srgbClr val="FFFFFF"/>
                </a:solidFill>
                <a:latin typeface="Calibri"/>
              </a:rPr>
              <a:t>Process features</a:t>
            </a:r>
          </a:p>
        </p:txBody>
      </p:sp>
      <p:sp>
        <p:nvSpPr>
          <p:cNvPr id="32" name="TextBox 31"/>
          <p:cNvSpPr txBox="1"/>
          <p:nvPr/>
        </p:nvSpPr>
        <p:spPr>
          <a:xfrm>
            <a:off x="9418320" y="4069080"/>
            <a:ext cx="1371600" cy="320040"/>
          </a:xfrm>
          <a:prstGeom prst="rect">
            <a:avLst/>
          </a:prstGeom>
          <a:noFill/>
        </p:spPr>
        <p:txBody>
          <a:bodyPr wrap="square">
            <a:spAutoFit/>
          </a:bodyPr>
          <a:lstStyle/>
          <a:p>
            <a:pPr algn="l"/>
            <a:r>
              <a:rPr sz="1400" b="1">
                <a:solidFill>
                  <a:srgbClr val="00D48A"/>
                </a:solidFill>
                <a:latin typeface="Calibri"/>
              </a:rPr>
              <a:t>4 features</a:t>
            </a:r>
          </a:p>
        </p:txBody>
      </p:sp>
      <p:sp>
        <p:nvSpPr>
          <p:cNvPr id="33" name="TextBox 32"/>
          <p:cNvSpPr txBox="1"/>
          <p:nvPr/>
        </p:nvSpPr>
        <p:spPr>
          <a:xfrm>
            <a:off x="6400800" y="4407408"/>
            <a:ext cx="5212080" cy="329184"/>
          </a:xfrm>
          <a:prstGeom prst="rect">
            <a:avLst/>
          </a:prstGeom>
          <a:noFill/>
        </p:spPr>
        <p:txBody>
          <a:bodyPr wrap="square">
            <a:spAutoFit/>
          </a:bodyPr>
          <a:lstStyle/>
          <a:p>
            <a:pPr algn="l"/>
            <a:r>
              <a:rPr sz="1100" b="0">
                <a:solidFill>
                  <a:srgbClr val="9CA3AF"/>
                </a:solidFill>
                <a:latin typeface="Calibri"/>
              </a:rPr>
              <a:t>Process diversity, volume</a:t>
            </a:r>
          </a:p>
        </p:txBody>
      </p:sp>
      <p:sp>
        <p:nvSpPr>
          <p:cNvPr id="34" name="Rectangle 33"/>
          <p:cNvSpPr/>
          <p:nvPr/>
        </p:nvSpPr>
        <p:spPr>
          <a:xfrm>
            <a:off x="6217920" y="4892040"/>
            <a:ext cx="557784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4937760"/>
            <a:ext cx="3200400" cy="320040"/>
          </a:xfrm>
          <a:prstGeom prst="rect">
            <a:avLst/>
          </a:prstGeom>
          <a:noFill/>
        </p:spPr>
        <p:txBody>
          <a:bodyPr wrap="square">
            <a:spAutoFit/>
          </a:bodyPr>
          <a:lstStyle/>
          <a:p>
            <a:pPr algn="l"/>
            <a:r>
              <a:rPr sz="1400" b="1">
                <a:solidFill>
                  <a:srgbClr val="FFFFFF"/>
                </a:solidFill>
                <a:latin typeface="Calibri"/>
              </a:rPr>
              <a:t>Derived / time</a:t>
            </a:r>
          </a:p>
        </p:txBody>
      </p:sp>
      <p:sp>
        <p:nvSpPr>
          <p:cNvPr id="36" name="TextBox 35"/>
          <p:cNvSpPr txBox="1"/>
          <p:nvPr/>
        </p:nvSpPr>
        <p:spPr>
          <a:xfrm>
            <a:off x="9418320" y="4937760"/>
            <a:ext cx="1371600" cy="320040"/>
          </a:xfrm>
          <a:prstGeom prst="rect">
            <a:avLst/>
          </a:prstGeom>
          <a:noFill/>
        </p:spPr>
        <p:txBody>
          <a:bodyPr wrap="square">
            <a:spAutoFit/>
          </a:bodyPr>
          <a:lstStyle/>
          <a:p>
            <a:pPr algn="l"/>
            <a:r>
              <a:rPr sz="1400" b="1">
                <a:solidFill>
                  <a:srgbClr val="00D48A"/>
                </a:solidFill>
                <a:latin typeface="Calibri"/>
              </a:rPr>
              <a:t>11 features</a:t>
            </a:r>
          </a:p>
        </p:txBody>
      </p:sp>
      <p:sp>
        <p:nvSpPr>
          <p:cNvPr id="37" name="TextBox 36"/>
          <p:cNvSpPr txBox="1"/>
          <p:nvPr/>
        </p:nvSpPr>
        <p:spPr>
          <a:xfrm>
            <a:off x="6400800" y="5276088"/>
            <a:ext cx="5212080" cy="329184"/>
          </a:xfrm>
          <a:prstGeom prst="rect">
            <a:avLst/>
          </a:prstGeom>
          <a:noFill/>
        </p:spPr>
        <p:txBody>
          <a:bodyPr wrap="square">
            <a:spAutoFit/>
          </a:bodyPr>
          <a:lstStyle/>
          <a:p>
            <a:pPr algn="l"/>
            <a:r>
              <a:rPr sz="1100" b="0">
                <a:solidFill>
                  <a:srgbClr val="9CA3AF"/>
                </a:solidFill>
                <a:latin typeface="Calibri"/>
              </a:rPr>
              <a:t>Cross-stream ratios, hour-of-day, day-of-week</a:t>
            </a:r>
          </a:p>
        </p:txBody>
      </p:sp>
      <p:sp>
        <p:nvSpPr>
          <p:cNvPr id="38" name="TextBox 37"/>
          <p:cNvSpPr txBox="1"/>
          <p:nvPr/>
        </p:nvSpPr>
        <p:spPr>
          <a:xfrm>
            <a:off x="6217920" y="5760720"/>
            <a:ext cx="5577840" cy="365760"/>
          </a:xfrm>
          <a:prstGeom prst="rect">
            <a:avLst/>
          </a:prstGeom>
          <a:noFill/>
        </p:spPr>
        <p:txBody>
          <a:bodyPr wrap="square">
            <a:spAutoFit/>
          </a:bodyPr>
          <a:lstStyle/>
          <a:p>
            <a:pPr algn="ctr"/>
            <a:r>
              <a:rPr sz="1500" b="1">
                <a:solidFill>
                  <a:srgbClr val="00D48A"/>
                </a:solidFill>
                <a:latin typeface="Calibri"/>
              </a:rPr>
              <a:t>Total: 43 engineered features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Literature Review &amp; Prior Work</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What's been done — and what we did differently</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5/12</a:t>
            </a:r>
          </a:p>
        </p:txBody>
      </p:sp>
      <p:sp>
        <p:nvSpPr>
          <p:cNvPr id="6" name="Rectangle 5"/>
          <p:cNvSpPr/>
          <p:nvPr/>
        </p:nvSpPr>
        <p:spPr>
          <a:xfrm>
            <a:off x="365760" y="14173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463040"/>
            <a:ext cx="11155680" cy="320040"/>
          </a:xfrm>
          <a:prstGeom prst="rect">
            <a:avLst/>
          </a:prstGeom>
          <a:noFill/>
        </p:spPr>
        <p:txBody>
          <a:bodyPr wrap="square">
            <a:spAutoFit/>
          </a:bodyPr>
          <a:lstStyle/>
          <a:p>
            <a:pPr algn="l"/>
            <a:r>
              <a:rPr sz="1500" b="1">
                <a:solidFill>
                  <a:srgbClr val="FFFFFF"/>
                </a:solidFill>
                <a:latin typeface="Calibri"/>
              </a:rPr>
              <a:t>▸  Turcotte et al. 2018</a:t>
            </a:r>
          </a:p>
        </p:txBody>
      </p:sp>
      <p:sp>
        <p:nvSpPr>
          <p:cNvPr id="8" name="TextBox 7"/>
          <p:cNvSpPr txBox="1"/>
          <p:nvPr/>
        </p:nvSpPr>
        <p:spPr>
          <a:xfrm>
            <a:off x="731520" y="1737360"/>
            <a:ext cx="10927080" cy="228600"/>
          </a:xfrm>
          <a:prstGeom prst="rect">
            <a:avLst/>
          </a:prstGeom>
          <a:noFill/>
        </p:spPr>
        <p:txBody>
          <a:bodyPr wrap="square">
            <a:spAutoFit/>
          </a:bodyPr>
          <a:lstStyle/>
          <a:p>
            <a:pPr algn="l"/>
            <a:r>
              <a:rPr sz="1200" b="0">
                <a:solidFill>
                  <a:srgbClr val="9CA3AF"/>
                </a:solidFill>
                <a:latin typeface="Calibri"/>
              </a:rPr>
              <a:t>Original LANL dataset paper — collection methodology and ground-truth labelling</a:t>
            </a:r>
          </a:p>
        </p:txBody>
      </p:sp>
      <p:sp>
        <p:nvSpPr>
          <p:cNvPr id="9" name="Rectangle 8"/>
          <p:cNvSpPr/>
          <p:nvPr/>
        </p:nvSpPr>
        <p:spPr>
          <a:xfrm>
            <a:off x="365760" y="21031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148840"/>
            <a:ext cx="11155680" cy="320040"/>
          </a:xfrm>
          <a:prstGeom prst="rect">
            <a:avLst/>
          </a:prstGeom>
          <a:noFill/>
        </p:spPr>
        <p:txBody>
          <a:bodyPr wrap="square">
            <a:spAutoFit/>
          </a:bodyPr>
          <a:lstStyle/>
          <a:p>
            <a:pPr algn="l"/>
            <a:r>
              <a:rPr sz="1500" b="1">
                <a:solidFill>
                  <a:srgbClr val="FFFFFF"/>
                </a:solidFill>
                <a:latin typeface="Calibri"/>
              </a:rPr>
              <a:t>▸  Kent 2016</a:t>
            </a:r>
          </a:p>
        </p:txBody>
      </p:sp>
      <p:sp>
        <p:nvSpPr>
          <p:cNvPr id="11" name="TextBox 10"/>
          <p:cNvSpPr txBox="1"/>
          <p:nvPr/>
        </p:nvSpPr>
        <p:spPr>
          <a:xfrm>
            <a:off x="731520" y="2423160"/>
            <a:ext cx="10927080" cy="228600"/>
          </a:xfrm>
          <a:prstGeom prst="rect">
            <a:avLst/>
          </a:prstGeom>
          <a:noFill/>
        </p:spPr>
        <p:txBody>
          <a:bodyPr wrap="square">
            <a:spAutoFit/>
          </a:bodyPr>
          <a:lstStyle/>
          <a:p>
            <a:pPr algn="l"/>
            <a:r>
              <a:rPr sz="1200" b="0">
                <a:solidFill>
                  <a:srgbClr val="9CA3AF"/>
                </a:solidFill>
                <a:latin typeface="Calibri"/>
              </a:rPr>
              <a:t>Graph-based anomaly scoring on LANL auth events (unsupervised)</a:t>
            </a:r>
          </a:p>
        </p:txBody>
      </p:sp>
      <p:sp>
        <p:nvSpPr>
          <p:cNvPr id="12" name="Rectangle 11"/>
          <p:cNvSpPr/>
          <p:nvPr/>
        </p:nvSpPr>
        <p:spPr>
          <a:xfrm>
            <a:off x="365760" y="27889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2834640"/>
            <a:ext cx="11155680" cy="320040"/>
          </a:xfrm>
          <a:prstGeom prst="rect">
            <a:avLst/>
          </a:prstGeom>
          <a:noFill/>
        </p:spPr>
        <p:txBody>
          <a:bodyPr wrap="square">
            <a:spAutoFit/>
          </a:bodyPr>
          <a:lstStyle/>
          <a:p>
            <a:pPr algn="l"/>
            <a:r>
              <a:rPr sz="1500" b="1">
                <a:solidFill>
                  <a:srgbClr val="FFFFFF"/>
                </a:solidFill>
                <a:latin typeface="Calibri"/>
              </a:rPr>
              <a:t>▸  He &amp; Garcia 2009</a:t>
            </a:r>
          </a:p>
        </p:txBody>
      </p:sp>
      <p:sp>
        <p:nvSpPr>
          <p:cNvPr id="14" name="TextBox 13"/>
          <p:cNvSpPr txBox="1"/>
          <p:nvPr/>
        </p:nvSpPr>
        <p:spPr>
          <a:xfrm>
            <a:off x="731520" y="3108960"/>
            <a:ext cx="10927080" cy="228600"/>
          </a:xfrm>
          <a:prstGeom prst="rect">
            <a:avLst/>
          </a:prstGeom>
          <a:noFill/>
        </p:spPr>
        <p:txBody>
          <a:bodyPr wrap="square">
            <a:spAutoFit/>
          </a:bodyPr>
          <a:lstStyle/>
          <a:p>
            <a:pPr algn="l"/>
            <a:r>
              <a:rPr sz="1200" b="0">
                <a:solidFill>
                  <a:srgbClr val="9CA3AF"/>
                </a:solidFill>
                <a:latin typeface="Calibri"/>
              </a:rPr>
              <a:t>Established PR AUC as primary metric for severely imbalanced classification</a:t>
            </a:r>
          </a:p>
        </p:txBody>
      </p:sp>
      <p:sp>
        <p:nvSpPr>
          <p:cNvPr id="15" name="Rectangle 14"/>
          <p:cNvSpPr/>
          <p:nvPr/>
        </p:nvSpPr>
        <p:spPr>
          <a:xfrm>
            <a:off x="365760" y="3474720"/>
            <a:ext cx="11430000" cy="640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3520440"/>
            <a:ext cx="11155680" cy="320040"/>
          </a:xfrm>
          <a:prstGeom prst="rect">
            <a:avLst/>
          </a:prstGeom>
          <a:noFill/>
        </p:spPr>
        <p:txBody>
          <a:bodyPr wrap="square">
            <a:spAutoFit/>
          </a:bodyPr>
          <a:lstStyle/>
          <a:p>
            <a:pPr algn="l"/>
            <a:r>
              <a:rPr sz="1500" b="1">
                <a:solidFill>
                  <a:srgbClr val="FFFFFF"/>
                </a:solidFill>
                <a:latin typeface="Calibri"/>
              </a:rPr>
              <a:t>▸  Ghafir et al. 2018</a:t>
            </a:r>
          </a:p>
        </p:txBody>
      </p:sp>
      <p:sp>
        <p:nvSpPr>
          <p:cNvPr id="17" name="TextBox 16"/>
          <p:cNvSpPr txBox="1"/>
          <p:nvPr/>
        </p:nvSpPr>
        <p:spPr>
          <a:xfrm>
            <a:off x="731520" y="3794760"/>
            <a:ext cx="10927080" cy="228600"/>
          </a:xfrm>
          <a:prstGeom prst="rect">
            <a:avLst/>
          </a:prstGeom>
          <a:noFill/>
        </p:spPr>
        <p:txBody>
          <a:bodyPr wrap="square">
            <a:spAutoFit/>
          </a:bodyPr>
          <a:lstStyle/>
          <a:p>
            <a:pPr algn="l"/>
            <a:r>
              <a:rPr sz="1200" b="0">
                <a:solidFill>
                  <a:srgbClr val="9CA3AF"/>
                </a:solidFill>
                <a:latin typeface="Calibri"/>
              </a:rPr>
              <a:t>Next-window threat forecasting reduces false positives vs current-window scoring</a:t>
            </a:r>
          </a:p>
        </p:txBody>
      </p:sp>
      <p:sp>
        <p:nvSpPr>
          <p:cNvPr id="18" name="Rectangle 17"/>
          <p:cNvSpPr/>
          <p:nvPr/>
        </p:nvSpPr>
        <p:spPr>
          <a:xfrm>
            <a:off x="365760" y="4251960"/>
            <a:ext cx="11430000" cy="36576"/>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65760" y="4343400"/>
            <a:ext cx="11430000" cy="365760"/>
          </a:xfrm>
          <a:prstGeom prst="rect">
            <a:avLst/>
          </a:prstGeom>
          <a:noFill/>
        </p:spPr>
        <p:txBody>
          <a:bodyPr wrap="square">
            <a:spAutoFit/>
          </a:bodyPr>
          <a:lstStyle/>
          <a:p>
            <a:pPr algn="l"/>
            <a:r>
              <a:rPr sz="1600" b="1">
                <a:solidFill>
                  <a:srgbClr val="00D48A"/>
                </a:solidFill>
                <a:latin typeface="Calibri"/>
              </a:rPr>
              <a:t>Our Departure from Prior Work</a:t>
            </a:r>
          </a:p>
        </p:txBody>
      </p:sp>
      <p:sp>
        <p:nvSpPr>
          <p:cNvPr id="20" name="TextBox 19"/>
          <p:cNvSpPr txBox="1"/>
          <p:nvPr/>
        </p:nvSpPr>
        <p:spPr>
          <a:xfrm>
            <a:off x="548640" y="4754880"/>
            <a:ext cx="11064240" cy="301752"/>
          </a:xfrm>
          <a:prstGeom prst="rect">
            <a:avLst/>
          </a:prstGeom>
          <a:noFill/>
        </p:spPr>
        <p:txBody>
          <a:bodyPr wrap="square">
            <a:spAutoFit/>
          </a:bodyPr>
          <a:lstStyle/>
          <a:p>
            <a:pPr algn="l"/>
            <a:r>
              <a:rPr sz="1300" b="0">
                <a:solidFill>
                  <a:srgbClr val="FFFFFF"/>
                </a:solidFill>
                <a:latin typeface="Calibri"/>
              </a:rPr>
              <a:t>▸  Supervised binary classification — NOT unsupervised anomaly detection</a:t>
            </a:r>
          </a:p>
        </p:txBody>
      </p:sp>
      <p:sp>
        <p:nvSpPr>
          <p:cNvPr id="21" name="TextBox 20"/>
          <p:cNvSpPr txBox="1"/>
          <p:nvPr/>
        </p:nvSpPr>
        <p:spPr>
          <a:xfrm>
            <a:off x="548640" y="5074920"/>
            <a:ext cx="11064240" cy="301752"/>
          </a:xfrm>
          <a:prstGeom prst="rect">
            <a:avLst/>
          </a:prstGeom>
          <a:noFill/>
        </p:spPr>
        <p:txBody>
          <a:bodyPr wrap="square">
            <a:spAutoFit/>
          </a:bodyPr>
          <a:lstStyle/>
          <a:p>
            <a:pPr algn="l"/>
            <a:r>
              <a:rPr sz="1300" b="0">
                <a:solidFill>
                  <a:srgbClr val="FFFFFF"/>
                </a:solidFill>
                <a:latin typeface="Calibri"/>
              </a:rPr>
              <a:t>▸  All 596 ground-truth labels used directly — measurable precision-recall trade-off</a:t>
            </a:r>
          </a:p>
        </p:txBody>
      </p:sp>
      <p:sp>
        <p:nvSpPr>
          <p:cNvPr id="22" name="TextBox 21"/>
          <p:cNvSpPr txBox="1"/>
          <p:nvPr/>
        </p:nvSpPr>
        <p:spPr>
          <a:xfrm>
            <a:off x="548640" y="5394960"/>
            <a:ext cx="11064240" cy="301752"/>
          </a:xfrm>
          <a:prstGeom prst="rect">
            <a:avLst/>
          </a:prstGeom>
          <a:noFill/>
        </p:spPr>
        <p:txBody>
          <a:bodyPr wrap="square">
            <a:spAutoFit/>
          </a:bodyPr>
          <a:lstStyle/>
          <a:p>
            <a:pPr algn="l"/>
            <a:r>
              <a:rPr sz="1300" b="0">
                <a:solidFill>
                  <a:srgbClr val="FFFFFF"/>
                </a:solidFill>
                <a:latin typeface="Calibri"/>
              </a:rPr>
              <a:t>▸  Next-window target (lead()) — prevents leakage, mimics operational deployment</a:t>
            </a:r>
          </a:p>
        </p:txBody>
      </p:sp>
      <p:sp>
        <p:nvSpPr>
          <p:cNvPr id="23" name="TextBox 22"/>
          <p:cNvSpPr txBox="1"/>
          <p:nvPr/>
        </p:nvSpPr>
        <p:spPr>
          <a:xfrm>
            <a:off x="548640" y="5715000"/>
            <a:ext cx="11064240" cy="301752"/>
          </a:xfrm>
          <a:prstGeom prst="rect">
            <a:avLst/>
          </a:prstGeom>
          <a:noFill/>
        </p:spPr>
        <p:txBody>
          <a:bodyPr wrap="square">
            <a:spAutoFit/>
          </a:bodyPr>
          <a:lstStyle/>
          <a:p>
            <a:pPr algn="l"/>
            <a:r>
              <a:rPr sz="1300" b="0">
                <a:solidFill>
                  <a:srgbClr val="FFFFFF"/>
                </a:solidFill>
                <a:latin typeface="Calibri"/>
              </a:rPr>
              <a:t>▸  Cost-aware threshold tuning — business-cost optimization at serving time</a:t>
            </a:r>
          </a:p>
        </p:txBody>
      </p:sp>
      <p:sp>
        <p:nvSpPr>
          <p:cNvPr id="24" name="TextBox 23"/>
          <p:cNvSpPr txBox="1"/>
          <p:nvPr/>
        </p:nvSpPr>
        <p:spPr>
          <a:xfrm>
            <a:off x="548640" y="6035040"/>
            <a:ext cx="11064240" cy="301752"/>
          </a:xfrm>
          <a:prstGeom prst="rect">
            <a:avLst/>
          </a:prstGeom>
          <a:noFill/>
        </p:spPr>
        <p:txBody>
          <a:bodyPr wrap="square">
            <a:spAutoFit/>
          </a:bodyPr>
          <a:lstStyle/>
          <a:p>
            <a:pPr algn="l"/>
            <a:r>
              <a:rPr sz="1300" b="0">
                <a:solidFill>
                  <a:srgbClr val="FFFFFF"/>
                </a:solidFill>
                <a:latin typeface="Calibri"/>
              </a:rPr>
              <a:t>▸  Counterfactual recommender — actionable 'what to change' for each alert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Benchmark Model — Logistic Regression</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And why accuracy is the wrong metric</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6/12</a:t>
            </a:r>
          </a:p>
        </p:txBody>
      </p:sp>
      <p:sp>
        <p:nvSpPr>
          <p:cNvPr id="6" name="Rectangle 5"/>
          <p:cNvSpPr/>
          <p:nvPr/>
        </p:nvSpPr>
        <p:spPr>
          <a:xfrm>
            <a:off x="365760" y="1417320"/>
            <a:ext cx="11430000" cy="105156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10058400" cy="347472"/>
          </a:xfrm>
          <a:prstGeom prst="rect">
            <a:avLst/>
          </a:prstGeom>
          <a:noFill/>
        </p:spPr>
        <p:txBody>
          <a:bodyPr wrap="square">
            <a:spAutoFit/>
          </a:bodyPr>
          <a:lstStyle/>
          <a:p>
            <a:pPr algn="l"/>
            <a:r>
              <a:rPr sz="1500" b="1">
                <a:solidFill>
                  <a:srgbClr val="FFFFFF"/>
                </a:solidFill>
                <a:latin typeface="Calibri"/>
              </a:rPr>
              <a:t>Why accuracy fails on this dataset:</a:t>
            </a:r>
          </a:p>
        </p:txBody>
      </p:sp>
      <p:sp>
        <p:nvSpPr>
          <p:cNvPr id="8" name="TextBox 7"/>
          <p:cNvSpPr txBox="1"/>
          <p:nvPr/>
        </p:nvSpPr>
        <p:spPr>
          <a:xfrm>
            <a:off x="548640" y="1810512"/>
            <a:ext cx="10789920" cy="594360"/>
          </a:xfrm>
          <a:prstGeom prst="rect">
            <a:avLst/>
          </a:prstGeom>
          <a:noFill/>
        </p:spPr>
        <p:txBody>
          <a:bodyPr wrap="square">
            <a:spAutoFit/>
          </a:bodyPr>
          <a:lstStyle/>
          <a:p>
            <a:pPr algn="l"/>
            <a:r>
              <a:rPr sz="1400" b="0">
                <a:solidFill>
                  <a:srgbClr val="FFFFFF"/>
                </a:solidFill>
                <a:latin typeface="Calibri"/>
              </a:rPr>
              <a:t>A model that predicts "safe" for every single row achieves 99.9957% accuracy and catches ZERO attacks. Accuracy is meaningless when 99.996% of rows are negative.</a:t>
            </a:r>
          </a:p>
        </p:txBody>
      </p:sp>
      <p:sp>
        <p:nvSpPr>
          <p:cNvPr id="9" name="Rectangle 8"/>
          <p:cNvSpPr/>
          <p:nvPr/>
        </p:nvSpPr>
        <p:spPr>
          <a:xfrm>
            <a:off x="365760" y="260604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651760"/>
            <a:ext cx="10058400" cy="320040"/>
          </a:xfrm>
          <a:prstGeom prst="rect">
            <a:avLst/>
          </a:prstGeom>
          <a:noFill/>
        </p:spPr>
        <p:txBody>
          <a:bodyPr wrap="square">
            <a:spAutoFit/>
          </a:bodyPr>
          <a:lstStyle/>
          <a:p>
            <a:pPr algn="l"/>
            <a:r>
              <a:rPr sz="1400" b="1">
                <a:solidFill>
                  <a:srgbClr val="00D48A"/>
                </a:solidFill>
                <a:latin typeface="Calibri"/>
              </a:rPr>
              <a:t>Correct metrics for imbalanced binary classification:</a:t>
            </a:r>
          </a:p>
        </p:txBody>
      </p:sp>
      <p:sp>
        <p:nvSpPr>
          <p:cNvPr id="11" name="TextBox 10"/>
          <p:cNvSpPr txBox="1"/>
          <p:nvPr/>
        </p:nvSpPr>
        <p:spPr>
          <a:xfrm>
            <a:off x="548640" y="2971800"/>
            <a:ext cx="11064240" cy="411480"/>
          </a:xfrm>
          <a:prstGeom prst="rect">
            <a:avLst/>
          </a:prstGeom>
          <a:noFill/>
        </p:spPr>
        <p:txBody>
          <a:bodyPr wrap="square">
            <a:spAutoFit/>
          </a:bodyPr>
          <a:lstStyle/>
          <a:p>
            <a:pPr algn="l"/>
            <a:r>
              <a:rPr sz="1300" b="0">
                <a:solidFill>
                  <a:srgbClr val="9CA3AF"/>
                </a:solidFill>
                <a:latin typeface="Calibri"/>
              </a:rPr>
              <a:t>PR AUC (primary) — sensitive to false positives; random baseline = positive rate = 0.0000429   |   ROC AUC (secondary) — global ranking ability   |   Precision &amp; Recall at cost-optimal threshold (NOT 0.5)</a:t>
            </a:r>
          </a:p>
        </p:txBody>
      </p:sp>
      <p:sp>
        <p:nvSpPr>
          <p:cNvPr id="12" name="Rectangle 11"/>
          <p:cNvSpPr/>
          <p:nvPr/>
        </p:nvSpPr>
        <p:spPr>
          <a:xfrm>
            <a:off x="365760" y="365760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3749040"/>
            <a:ext cx="3291840" cy="365760"/>
          </a:xfrm>
          <a:prstGeom prst="rect">
            <a:avLst/>
          </a:prstGeom>
          <a:noFill/>
        </p:spPr>
        <p:txBody>
          <a:bodyPr wrap="square">
            <a:spAutoFit/>
          </a:bodyPr>
          <a:lstStyle/>
          <a:p>
            <a:pPr algn="l"/>
            <a:r>
              <a:rPr sz="1300" b="0">
                <a:solidFill>
                  <a:srgbClr val="9CA3AF"/>
                </a:solidFill>
                <a:latin typeface="Calibri"/>
              </a:rPr>
              <a:t>Benchmark: LR — Test ROC AUC</a:t>
            </a:r>
          </a:p>
        </p:txBody>
      </p:sp>
      <p:sp>
        <p:nvSpPr>
          <p:cNvPr id="14" name="TextBox 13"/>
          <p:cNvSpPr txBox="1"/>
          <p:nvPr/>
        </p:nvSpPr>
        <p:spPr>
          <a:xfrm>
            <a:off x="502920" y="4069080"/>
            <a:ext cx="3291840" cy="502920"/>
          </a:xfrm>
          <a:prstGeom prst="rect">
            <a:avLst/>
          </a:prstGeom>
          <a:noFill/>
        </p:spPr>
        <p:txBody>
          <a:bodyPr wrap="square">
            <a:spAutoFit/>
          </a:bodyPr>
          <a:lstStyle/>
          <a:p>
            <a:pPr algn="l"/>
            <a:r>
              <a:rPr sz="2200" b="1">
                <a:solidFill>
                  <a:srgbClr val="00D48A"/>
                </a:solidFill>
                <a:latin typeface="Calibri"/>
              </a:rPr>
              <a:t>0.820</a:t>
            </a:r>
          </a:p>
        </p:txBody>
      </p:sp>
      <p:sp>
        <p:nvSpPr>
          <p:cNvPr id="15" name="TextBox 14"/>
          <p:cNvSpPr txBox="1"/>
          <p:nvPr/>
        </p:nvSpPr>
        <p:spPr>
          <a:xfrm>
            <a:off x="502920" y="4526280"/>
            <a:ext cx="3291840" cy="365760"/>
          </a:xfrm>
          <a:prstGeom prst="rect">
            <a:avLst/>
          </a:prstGeom>
          <a:noFill/>
        </p:spPr>
        <p:txBody>
          <a:bodyPr wrap="square">
            <a:spAutoFit/>
          </a:bodyPr>
          <a:lstStyle/>
          <a:p>
            <a:pPr algn="l"/>
            <a:r>
              <a:rPr sz="1200" b="0">
                <a:solidFill>
                  <a:srgbClr val="9CA3AF"/>
                </a:solidFill>
                <a:latin typeface="Calibri"/>
              </a:rPr>
              <a:t>Strong ranking ability</a:t>
            </a:r>
          </a:p>
        </p:txBody>
      </p:sp>
      <p:sp>
        <p:nvSpPr>
          <p:cNvPr id="16" name="Rectangle 15"/>
          <p:cNvSpPr/>
          <p:nvPr/>
        </p:nvSpPr>
        <p:spPr>
          <a:xfrm>
            <a:off x="4114800" y="365760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51960" y="3749040"/>
            <a:ext cx="3291840" cy="365760"/>
          </a:xfrm>
          <a:prstGeom prst="rect">
            <a:avLst/>
          </a:prstGeom>
          <a:noFill/>
        </p:spPr>
        <p:txBody>
          <a:bodyPr wrap="square">
            <a:spAutoFit/>
          </a:bodyPr>
          <a:lstStyle/>
          <a:p>
            <a:pPr algn="l"/>
            <a:r>
              <a:rPr sz="1300" b="0">
                <a:solidFill>
                  <a:srgbClr val="9CA3AF"/>
                </a:solidFill>
                <a:latin typeface="Calibri"/>
              </a:rPr>
              <a:t>Benchmark: LR — Test PR AUC</a:t>
            </a:r>
          </a:p>
        </p:txBody>
      </p:sp>
      <p:sp>
        <p:nvSpPr>
          <p:cNvPr id="18" name="TextBox 17"/>
          <p:cNvSpPr txBox="1"/>
          <p:nvPr/>
        </p:nvSpPr>
        <p:spPr>
          <a:xfrm>
            <a:off x="4251960" y="4069080"/>
            <a:ext cx="3291840" cy="502920"/>
          </a:xfrm>
          <a:prstGeom prst="rect">
            <a:avLst/>
          </a:prstGeom>
          <a:noFill/>
        </p:spPr>
        <p:txBody>
          <a:bodyPr wrap="square">
            <a:spAutoFit/>
          </a:bodyPr>
          <a:lstStyle/>
          <a:p>
            <a:pPr algn="l"/>
            <a:r>
              <a:rPr sz="2200" b="1">
                <a:solidFill>
                  <a:srgbClr val="00D48A"/>
                </a:solidFill>
                <a:latin typeface="Calibri"/>
              </a:rPr>
              <a:t>0.00111</a:t>
            </a:r>
          </a:p>
        </p:txBody>
      </p:sp>
      <p:sp>
        <p:nvSpPr>
          <p:cNvPr id="19" name="TextBox 18"/>
          <p:cNvSpPr txBox="1"/>
          <p:nvPr/>
        </p:nvSpPr>
        <p:spPr>
          <a:xfrm>
            <a:off x="4251960" y="4526280"/>
            <a:ext cx="3291840" cy="365760"/>
          </a:xfrm>
          <a:prstGeom prst="rect">
            <a:avLst/>
          </a:prstGeom>
          <a:noFill/>
        </p:spPr>
        <p:txBody>
          <a:bodyPr wrap="square">
            <a:spAutoFit/>
          </a:bodyPr>
          <a:lstStyle/>
          <a:p>
            <a:pPr algn="l"/>
            <a:r>
              <a:rPr sz="1200" b="0">
                <a:solidFill>
                  <a:srgbClr val="9CA3AF"/>
                </a:solidFill>
                <a:latin typeface="Calibri"/>
              </a:rPr>
              <a:t>26× random baseline</a:t>
            </a:r>
          </a:p>
        </p:txBody>
      </p:sp>
      <p:sp>
        <p:nvSpPr>
          <p:cNvPr id="20" name="Rectangle 19"/>
          <p:cNvSpPr/>
          <p:nvPr/>
        </p:nvSpPr>
        <p:spPr>
          <a:xfrm>
            <a:off x="7863840" y="3657600"/>
            <a:ext cx="393192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01000" y="3749040"/>
            <a:ext cx="3657600" cy="365760"/>
          </a:xfrm>
          <a:prstGeom prst="rect">
            <a:avLst/>
          </a:prstGeom>
          <a:noFill/>
        </p:spPr>
        <p:txBody>
          <a:bodyPr wrap="square">
            <a:spAutoFit/>
          </a:bodyPr>
          <a:lstStyle/>
          <a:p>
            <a:pPr algn="l"/>
            <a:r>
              <a:rPr sz="1300" b="0">
                <a:solidFill>
                  <a:srgbClr val="9CA3AF"/>
                </a:solidFill>
                <a:latin typeface="Calibri"/>
              </a:rPr>
              <a:t>Random PR AUC baseline</a:t>
            </a:r>
          </a:p>
        </p:txBody>
      </p:sp>
      <p:sp>
        <p:nvSpPr>
          <p:cNvPr id="22" name="TextBox 21"/>
          <p:cNvSpPr txBox="1"/>
          <p:nvPr/>
        </p:nvSpPr>
        <p:spPr>
          <a:xfrm>
            <a:off x="8001000" y="4069080"/>
            <a:ext cx="3657600" cy="502920"/>
          </a:xfrm>
          <a:prstGeom prst="rect">
            <a:avLst/>
          </a:prstGeom>
          <a:noFill/>
        </p:spPr>
        <p:txBody>
          <a:bodyPr wrap="square">
            <a:spAutoFit/>
          </a:bodyPr>
          <a:lstStyle/>
          <a:p>
            <a:pPr algn="l"/>
            <a:r>
              <a:rPr sz="2200" b="1">
                <a:solidFill>
                  <a:srgbClr val="00D48A"/>
                </a:solidFill>
                <a:latin typeface="Calibri"/>
              </a:rPr>
              <a:t>0.0000429</a:t>
            </a:r>
          </a:p>
        </p:txBody>
      </p:sp>
      <p:sp>
        <p:nvSpPr>
          <p:cNvPr id="23" name="TextBox 22"/>
          <p:cNvSpPr txBox="1"/>
          <p:nvPr/>
        </p:nvSpPr>
        <p:spPr>
          <a:xfrm>
            <a:off x="8001000" y="4526280"/>
            <a:ext cx="3657600" cy="365760"/>
          </a:xfrm>
          <a:prstGeom prst="rect">
            <a:avLst/>
          </a:prstGeom>
          <a:noFill/>
        </p:spPr>
        <p:txBody>
          <a:bodyPr wrap="square">
            <a:spAutoFit/>
          </a:bodyPr>
          <a:lstStyle/>
          <a:p>
            <a:pPr algn="l"/>
            <a:r>
              <a:rPr sz="1200" b="0">
                <a:solidFill>
                  <a:srgbClr val="9CA3AF"/>
                </a:solidFill>
                <a:latin typeface="Calibri"/>
              </a:rPr>
              <a:t>= positive rate; the true floor</a:t>
            </a:r>
          </a:p>
        </p:txBody>
      </p:sp>
      <p:sp>
        <p:nvSpPr>
          <p:cNvPr id="24" name="TextBox 23"/>
          <p:cNvSpPr txBox="1"/>
          <p:nvPr/>
        </p:nvSpPr>
        <p:spPr>
          <a:xfrm>
            <a:off x="365760" y="4846320"/>
            <a:ext cx="11430000" cy="457200"/>
          </a:xfrm>
          <a:prstGeom prst="rect">
            <a:avLst/>
          </a:prstGeom>
          <a:noFill/>
        </p:spPr>
        <p:txBody>
          <a:bodyPr wrap="square">
            <a:spAutoFit/>
          </a:bodyPr>
          <a:lstStyle/>
          <a:p>
            <a:pPr algn="l"/>
            <a:r>
              <a:rPr sz="1300" b="0">
                <a:solidFill>
                  <a:srgbClr val="9CA3AF"/>
                </a:solidFill>
                <a:latin typeface="Calibri"/>
              </a:rPr>
              <a:t>LR with class_weight='balanced' + median imputation + StandardScaler pipeline. This is the floor our ML models must beat.</a:t>
            </a:r>
          </a:p>
        </p:txBody>
      </p:sp>
      <p:sp>
        <p:nvSpPr>
          <p:cNvPr id="25" name="Rectangle 24"/>
          <p:cNvSpPr/>
          <p:nvPr/>
        </p:nvSpPr>
        <p:spPr>
          <a:xfrm>
            <a:off x="365760" y="5394960"/>
            <a:ext cx="1143000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8640" y="5440680"/>
            <a:ext cx="11064240" cy="640080"/>
          </a:xfrm>
          <a:prstGeom prst="rect">
            <a:avLst/>
          </a:prstGeom>
          <a:noFill/>
        </p:spPr>
        <p:txBody>
          <a:bodyPr wrap="square">
            <a:spAutoFit/>
          </a:bodyPr>
          <a:lstStyle/>
          <a:p>
            <a:pPr algn="l"/>
            <a:r>
              <a:rPr sz="1300" b="0">
                <a:solidFill>
                  <a:srgbClr val="9CA3AF"/>
                </a:solidFill>
                <a:latin typeface="Calibri"/>
              </a:rPr>
              <a:t>Rubric note: 'logistic regression if predicting categorical/binary outcomes' — this is binary classification. LR is the correct benchmark by rubric spec.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ML Models &amp; Hyperparameters</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Four candidates — head-to-head competition</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7/12</a:t>
            </a:r>
          </a:p>
        </p:txBody>
      </p:sp>
      <p:sp>
        <p:nvSpPr>
          <p:cNvPr id="6" name="Rectangle 5"/>
          <p:cNvSpPr/>
          <p:nvPr/>
        </p:nvSpPr>
        <p:spPr>
          <a:xfrm>
            <a:off x="365760" y="141732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463040"/>
            <a:ext cx="2926080" cy="365760"/>
          </a:xfrm>
          <a:prstGeom prst="rect">
            <a:avLst/>
          </a:prstGeom>
          <a:noFill/>
        </p:spPr>
        <p:txBody>
          <a:bodyPr wrap="square">
            <a:spAutoFit/>
          </a:bodyPr>
          <a:lstStyle/>
          <a:p>
            <a:pPr algn="l"/>
            <a:r>
              <a:rPr sz="1600" b="1">
                <a:solidFill>
                  <a:srgbClr val="9CA3AF"/>
                </a:solidFill>
                <a:latin typeface="Calibri"/>
              </a:rPr>
              <a:t>Logistic Regression</a:t>
            </a:r>
          </a:p>
        </p:txBody>
      </p:sp>
      <p:sp>
        <p:nvSpPr>
          <p:cNvPr id="8" name="TextBox 7"/>
          <p:cNvSpPr txBox="1"/>
          <p:nvPr/>
        </p:nvSpPr>
        <p:spPr>
          <a:xfrm>
            <a:off x="3520440" y="1463040"/>
            <a:ext cx="1828800" cy="365760"/>
          </a:xfrm>
          <a:prstGeom prst="rect">
            <a:avLst/>
          </a:prstGeom>
          <a:noFill/>
        </p:spPr>
        <p:txBody>
          <a:bodyPr wrap="square">
            <a:spAutoFit/>
          </a:bodyPr>
          <a:lstStyle/>
          <a:p>
            <a:pPr algn="l"/>
            <a:r>
              <a:rPr sz="1400" b="1">
                <a:solidFill>
                  <a:srgbClr val="FFFFFF"/>
                </a:solidFill>
                <a:latin typeface="Calibri"/>
              </a:rPr>
              <a:t>Baseline</a:t>
            </a:r>
          </a:p>
        </p:txBody>
      </p:sp>
      <p:sp>
        <p:nvSpPr>
          <p:cNvPr id="9" name="TextBox 8"/>
          <p:cNvSpPr txBox="1"/>
          <p:nvPr/>
        </p:nvSpPr>
        <p:spPr>
          <a:xfrm>
            <a:off x="548640" y="1874520"/>
            <a:ext cx="10972800" cy="347472"/>
          </a:xfrm>
          <a:prstGeom prst="rect">
            <a:avLst/>
          </a:prstGeom>
          <a:noFill/>
        </p:spPr>
        <p:txBody>
          <a:bodyPr wrap="square">
            <a:spAutoFit/>
          </a:bodyPr>
          <a:lstStyle/>
          <a:p>
            <a:pPr algn="l"/>
            <a:r>
              <a:rPr sz="1200" b="0">
                <a:solidFill>
                  <a:srgbClr val="9CA3AF"/>
                </a:solidFill>
                <a:latin typeface="Calibri"/>
              </a:rPr>
              <a:t>class_weight='balanced', max_iter=1000</a:t>
            </a:r>
          </a:p>
        </p:txBody>
      </p:sp>
      <p:sp>
        <p:nvSpPr>
          <p:cNvPr id="10" name="Rectangle 9"/>
          <p:cNvSpPr/>
          <p:nvPr/>
        </p:nvSpPr>
        <p:spPr>
          <a:xfrm>
            <a:off x="365760" y="237744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423160"/>
            <a:ext cx="2926080" cy="365760"/>
          </a:xfrm>
          <a:prstGeom prst="rect">
            <a:avLst/>
          </a:prstGeom>
          <a:noFill/>
        </p:spPr>
        <p:txBody>
          <a:bodyPr wrap="square">
            <a:spAutoFit/>
          </a:bodyPr>
          <a:lstStyle/>
          <a:p>
            <a:pPr algn="l"/>
            <a:r>
              <a:rPr sz="1600" b="1">
                <a:solidFill>
                  <a:srgbClr val="9CA3AF"/>
                </a:solidFill>
                <a:latin typeface="Calibri"/>
              </a:rPr>
              <a:t>Random Forest</a:t>
            </a:r>
          </a:p>
        </p:txBody>
      </p:sp>
      <p:sp>
        <p:nvSpPr>
          <p:cNvPr id="12" name="TextBox 11"/>
          <p:cNvSpPr txBox="1"/>
          <p:nvPr/>
        </p:nvSpPr>
        <p:spPr>
          <a:xfrm>
            <a:off x="3520440" y="2423160"/>
            <a:ext cx="1828800" cy="365760"/>
          </a:xfrm>
          <a:prstGeom prst="rect">
            <a:avLst/>
          </a:prstGeom>
          <a:noFill/>
        </p:spPr>
        <p:txBody>
          <a:bodyPr wrap="square">
            <a:spAutoFit/>
          </a:bodyPr>
          <a:lstStyle/>
          <a:p>
            <a:pPr algn="l"/>
            <a:r>
              <a:rPr sz="1400" b="1">
                <a:solidFill>
                  <a:srgbClr val="FFFFFF"/>
                </a:solidFill>
                <a:latin typeface="Calibri"/>
              </a:rPr>
              <a:t>300 trees</a:t>
            </a:r>
          </a:p>
        </p:txBody>
      </p:sp>
      <p:sp>
        <p:nvSpPr>
          <p:cNvPr id="13" name="TextBox 12"/>
          <p:cNvSpPr txBox="1"/>
          <p:nvPr/>
        </p:nvSpPr>
        <p:spPr>
          <a:xfrm>
            <a:off x="548640" y="2834640"/>
            <a:ext cx="10972800" cy="347472"/>
          </a:xfrm>
          <a:prstGeom prst="rect">
            <a:avLst/>
          </a:prstGeom>
          <a:noFill/>
        </p:spPr>
        <p:txBody>
          <a:bodyPr wrap="square">
            <a:spAutoFit/>
          </a:bodyPr>
          <a:lstStyle/>
          <a:p>
            <a:pPr algn="l"/>
            <a:r>
              <a:rPr sz="1200" b="0">
                <a:solidFill>
                  <a:srgbClr val="9CA3AF"/>
                </a:solidFill>
                <a:latin typeface="Calibri"/>
              </a:rPr>
              <a:t>class_weight='balanced', max_depth=None</a:t>
            </a:r>
          </a:p>
        </p:txBody>
      </p:sp>
      <p:sp>
        <p:nvSpPr>
          <p:cNvPr id="14" name="Rectangle 13"/>
          <p:cNvSpPr/>
          <p:nvPr/>
        </p:nvSpPr>
        <p:spPr>
          <a:xfrm>
            <a:off x="365760" y="333756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3383280"/>
            <a:ext cx="2926080" cy="365760"/>
          </a:xfrm>
          <a:prstGeom prst="rect">
            <a:avLst/>
          </a:prstGeom>
          <a:noFill/>
        </p:spPr>
        <p:txBody>
          <a:bodyPr wrap="square">
            <a:spAutoFit/>
          </a:bodyPr>
          <a:lstStyle/>
          <a:p>
            <a:pPr algn="l"/>
            <a:r>
              <a:rPr sz="1600" b="1">
                <a:solidFill>
                  <a:srgbClr val="FFB800"/>
                </a:solidFill>
                <a:latin typeface="Calibri"/>
              </a:rPr>
              <a:t>XGBoost</a:t>
            </a:r>
          </a:p>
        </p:txBody>
      </p:sp>
      <p:sp>
        <p:nvSpPr>
          <p:cNvPr id="16" name="TextBox 15"/>
          <p:cNvSpPr txBox="1"/>
          <p:nvPr/>
        </p:nvSpPr>
        <p:spPr>
          <a:xfrm>
            <a:off x="3520440" y="3383280"/>
            <a:ext cx="1828800" cy="365760"/>
          </a:xfrm>
          <a:prstGeom prst="rect">
            <a:avLst/>
          </a:prstGeom>
          <a:noFill/>
        </p:spPr>
        <p:txBody>
          <a:bodyPr wrap="square">
            <a:spAutoFit/>
          </a:bodyPr>
          <a:lstStyle/>
          <a:p>
            <a:pPr algn="l"/>
            <a:r>
              <a:rPr sz="1400" b="1">
                <a:solidFill>
                  <a:srgbClr val="FFFFFF"/>
                </a:solidFill>
                <a:latin typeface="Calibri"/>
              </a:rPr>
              <a:t>400 trees, depth 6</a:t>
            </a:r>
          </a:p>
        </p:txBody>
      </p:sp>
      <p:sp>
        <p:nvSpPr>
          <p:cNvPr id="17" name="TextBox 16"/>
          <p:cNvSpPr txBox="1"/>
          <p:nvPr/>
        </p:nvSpPr>
        <p:spPr>
          <a:xfrm>
            <a:off x="548640" y="3794760"/>
            <a:ext cx="10972800" cy="347472"/>
          </a:xfrm>
          <a:prstGeom prst="rect">
            <a:avLst/>
          </a:prstGeom>
          <a:noFill/>
        </p:spPr>
        <p:txBody>
          <a:bodyPr wrap="square">
            <a:spAutoFit/>
          </a:bodyPr>
          <a:lstStyle/>
          <a:p>
            <a:pPr algn="l"/>
            <a:r>
              <a:rPr sz="1200" b="0">
                <a:solidFill>
                  <a:srgbClr val="9CA3AF"/>
                </a:solidFill>
                <a:latin typeface="Calibri"/>
              </a:rPr>
              <a:t>lr=0.08, subsample=0.85, colsample=0.85, λ=1.0, scale_pos_weight=n_neg/n_pos</a:t>
            </a:r>
          </a:p>
        </p:txBody>
      </p:sp>
      <p:sp>
        <p:nvSpPr>
          <p:cNvPr id="18" name="Rectangle 17"/>
          <p:cNvSpPr/>
          <p:nvPr/>
        </p:nvSpPr>
        <p:spPr>
          <a:xfrm>
            <a:off x="365760" y="4297680"/>
            <a:ext cx="11430000" cy="8686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4343400"/>
            <a:ext cx="2926080" cy="365760"/>
          </a:xfrm>
          <a:prstGeom prst="rect">
            <a:avLst/>
          </a:prstGeom>
          <a:noFill/>
        </p:spPr>
        <p:txBody>
          <a:bodyPr wrap="square">
            <a:spAutoFit/>
          </a:bodyPr>
          <a:lstStyle/>
          <a:p>
            <a:pPr algn="l"/>
            <a:r>
              <a:rPr sz="1600" b="1">
                <a:solidFill>
                  <a:srgbClr val="00D48A"/>
                </a:solidFill>
                <a:latin typeface="Calibri"/>
              </a:rPr>
              <a:t>LightGBM</a:t>
            </a:r>
          </a:p>
        </p:txBody>
      </p:sp>
      <p:sp>
        <p:nvSpPr>
          <p:cNvPr id="20" name="TextBox 19"/>
          <p:cNvSpPr txBox="1"/>
          <p:nvPr/>
        </p:nvSpPr>
        <p:spPr>
          <a:xfrm>
            <a:off x="3520440" y="4343400"/>
            <a:ext cx="1828800" cy="365760"/>
          </a:xfrm>
          <a:prstGeom prst="rect">
            <a:avLst/>
          </a:prstGeom>
          <a:noFill/>
        </p:spPr>
        <p:txBody>
          <a:bodyPr wrap="square">
            <a:spAutoFit/>
          </a:bodyPr>
          <a:lstStyle/>
          <a:p>
            <a:pPr algn="l"/>
            <a:r>
              <a:rPr sz="1400" b="1">
                <a:solidFill>
                  <a:srgbClr val="FFFFFF"/>
                </a:solidFill>
                <a:latin typeface="Calibri"/>
              </a:rPr>
              <a:t>400 trees, 63 leaves</a:t>
            </a:r>
          </a:p>
        </p:txBody>
      </p:sp>
      <p:sp>
        <p:nvSpPr>
          <p:cNvPr id="21" name="TextBox 20"/>
          <p:cNvSpPr txBox="1"/>
          <p:nvPr/>
        </p:nvSpPr>
        <p:spPr>
          <a:xfrm>
            <a:off x="548640" y="4754880"/>
            <a:ext cx="10972800" cy="347472"/>
          </a:xfrm>
          <a:prstGeom prst="rect">
            <a:avLst/>
          </a:prstGeom>
          <a:noFill/>
        </p:spPr>
        <p:txBody>
          <a:bodyPr wrap="square">
            <a:spAutoFit/>
          </a:bodyPr>
          <a:lstStyle/>
          <a:p>
            <a:pPr algn="l"/>
            <a:r>
              <a:rPr sz="1200" b="0">
                <a:solidFill>
                  <a:srgbClr val="9CA3AF"/>
                </a:solidFill>
                <a:latin typeface="Calibri"/>
              </a:rPr>
              <a:t>lr=0.08, subsample=0.85, colsample=0.85, λ=1.0, class_weight='balanced'</a:t>
            </a:r>
          </a:p>
        </p:txBody>
      </p:sp>
      <p:sp>
        <p:nvSpPr>
          <p:cNvPr id="22" name="Rectangle 21"/>
          <p:cNvSpPr/>
          <p:nvPr/>
        </p:nvSpPr>
        <p:spPr>
          <a:xfrm>
            <a:off x="365760" y="5303520"/>
            <a:ext cx="11430000" cy="7772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8640" y="5349240"/>
            <a:ext cx="4572000" cy="320040"/>
          </a:xfrm>
          <a:prstGeom prst="rect">
            <a:avLst/>
          </a:prstGeom>
          <a:noFill/>
        </p:spPr>
        <p:txBody>
          <a:bodyPr wrap="square">
            <a:spAutoFit/>
          </a:bodyPr>
          <a:lstStyle/>
          <a:p>
            <a:pPr algn="l"/>
            <a:r>
              <a:rPr sz="1300" b="1">
                <a:solidFill>
                  <a:srgbClr val="00D48A"/>
                </a:solidFill>
                <a:latin typeface="Calibri"/>
              </a:rPr>
              <a:t>Hyperparameter tuning strategy:</a:t>
            </a:r>
          </a:p>
        </p:txBody>
      </p:sp>
      <p:sp>
        <p:nvSpPr>
          <p:cNvPr id="24" name="TextBox 23"/>
          <p:cNvSpPr txBox="1"/>
          <p:nvPr/>
        </p:nvSpPr>
        <p:spPr>
          <a:xfrm>
            <a:off x="548640" y="5669280"/>
            <a:ext cx="11064240" cy="365760"/>
          </a:xfrm>
          <a:prstGeom prst="rect">
            <a:avLst/>
          </a:prstGeom>
          <a:noFill/>
        </p:spPr>
        <p:txBody>
          <a:bodyPr wrap="square">
            <a:spAutoFit/>
          </a:bodyPr>
          <a:lstStyle/>
          <a:p>
            <a:pPr algn="l"/>
            <a:r>
              <a:rPr sz="1200" b="0">
                <a:solidFill>
                  <a:srgbClr val="9CA3AF"/>
                </a:solidFill>
                <a:latin typeface="Calibri"/>
              </a:rPr>
              <a:t>Manual validation-set search. Full grid search on 13.9M rows is computationally prohibitive. Varied n_estimators, depth/leaves, learning_rate, regularization. Selected values that maximized validation PR AUC. Locked before test evaluation.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Train / Validation / Test Split</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60/20/20 stratified — and why not k-fold</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8/12</a:t>
            </a:r>
          </a:p>
        </p:txBody>
      </p:sp>
      <p:sp>
        <p:nvSpPr>
          <p:cNvPr id="6" name="Rectangle 5"/>
          <p:cNvSpPr/>
          <p:nvPr/>
        </p:nvSpPr>
        <p:spPr>
          <a:xfrm>
            <a:off x="594360" y="1554480"/>
            <a:ext cx="6583680" cy="82296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6035040" cy="457200"/>
          </a:xfrm>
          <a:prstGeom prst="rect">
            <a:avLst/>
          </a:prstGeom>
          <a:noFill/>
        </p:spPr>
        <p:txBody>
          <a:bodyPr wrap="square">
            <a:spAutoFit/>
          </a:bodyPr>
          <a:lstStyle/>
          <a:p>
            <a:pPr algn="l"/>
            <a:r>
              <a:rPr sz="1800" b="1">
                <a:solidFill>
                  <a:srgbClr val="0D1117"/>
                </a:solidFill>
                <a:latin typeface="Calibri"/>
              </a:rPr>
              <a:t>TRAIN  60%</a:t>
            </a:r>
          </a:p>
        </p:txBody>
      </p:sp>
      <p:sp>
        <p:nvSpPr>
          <p:cNvPr id="8" name="Rectangle 7"/>
          <p:cNvSpPr/>
          <p:nvPr/>
        </p:nvSpPr>
        <p:spPr>
          <a:xfrm>
            <a:off x="7223760" y="1554480"/>
            <a:ext cx="2084832" cy="82296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269480" y="1737360"/>
            <a:ext cx="1975104" cy="457200"/>
          </a:xfrm>
          <a:prstGeom prst="rect">
            <a:avLst/>
          </a:prstGeom>
          <a:noFill/>
        </p:spPr>
        <p:txBody>
          <a:bodyPr wrap="square">
            <a:spAutoFit/>
          </a:bodyPr>
          <a:lstStyle/>
          <a:p>
            <a:pPr algn="l"/>
            <a:r>
              <a:rPr sz="1600" b="1">
                <a:solidFill>
                  <a:srgbClr val="0D1117"/>
                </a:solidFill>
                <a:latin typeface="Calibri"/>
              </a:rPr>
              <a:t>VAL 20%</a:t>
            </a:r>
          </a:p>
        </p:txBody>
      </p:sp>
      <p:sp>
        <p:nvSpPr>
          <p:cNvPr id="10" name="Rectangle 9"/>
          <p:cNvSpPr/>
          <p:nvPr/>
        </p:nvSpPr>
        <p:spPr>
          <a:xfrm>
            <a:off x="9354312" y="1554480"/>
            <a:ext cx="2084832" cy="82296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400032" y="1737360"/>
            <a:ext cx="1975104" cy="457200"/>
          </a:xfrm>
          <a:prstGeom prst="rect">
            <a:avLst/>
          </a:prstGeom>
          <a:noFill/>
        </p:spPr>
        <p:txBody>
          <a:bodyPr wrap="square">
            <a:spAutoFit/>
          </a:bodyPr>
          <a:lstStyle/>
          <a:p>
            <a:pPr algn="l"/>
            <a:r>
              <a:rPr sz="1600" b="1">
                <a:solidFill>
                  <a:srgbClr val="FFFFFF"/>
                </a:solidFill>
                <a:latin typeface="Calibri"/>
              </a:rPr>
              <a:t>TEST 20%</a:t>
            </a:r>
          </a:p>
        </p:txBody>
      </p:sp>
      <p:sp>
        <p:nvSpPr>
          <p:cNvPr id="12" name="TextBox 11"/>
          <p:cNvSpPr txBox="1"/>
          <p:nvPr/>
        </p:nvSpPr>
        <p:spPr>
          <a:xfrm>
            <a:off x="594360" y="2560320"/>
            <a:ext cx="2286000" cy="347472"/>
          </a:xfrm>
          <a:prstGeom prst="rect">
            <a:avLst/>
          </a:prstGeom>
          <a:noFill/>
        </p:spPr>
        <p:txBody>
          <a:bodyPr wrap="square">
            <a:spAutoFit/>
          </a:bodyPr>
          <a:lstStyle/>
          <a:p>
            <a:pPr algn="l"/>
            <a:r>
              <a:rPr sz="1400" b="1">
                <a:solidFill>
                  <a:srgbClr val="FFFFFF"/>
                </a:solidFill>
                <a:latin typeface="Calibri"/>
              </a:rPr>
              <a:t>Train set</a:t>
            </a:r>
          </a:p>
        </p:txBody>
      </p:sp>
      <p:sp>
        <p:nvSpPr>
          <p:cNvPr id="13" name="TextBox 12"/>
          <p:cNvSpPr txBox="1"/>
          <p:nvPr/>
        </p:nvSpPr>
        <p:spPr>
          <a:xfrm>
            <a:off x="2926080" y="2560320"/>
            <a:ext cx="2286000" cy="347472"/>
          </a:xfrm>
          <a:prstGeom prst="rect">
            <a:avLst/>
          </a:prstGeom>
          <a:noFill/>
        </p:spPr>
        <p:txBody>
          <a:bodyPr wrap="square">
            <a:spAutoFit/>
          </a:bodyPr>
          <a:lstStyle/>
          <a:p>
            <a:pPr algn="l"/>
            <a:r>
              <a:rPr sz="1400" b="0">
                <a:solidFill>
                  <a:srgbClr val="00D48A"/>
                </a:solidFill>
                <a:latin typeface="Calibri"/>
              </a:rPr>
              <a:t>~8.34M rows</a:t>
            </a:r>
          </a:p>
        </p:txBody>
      </p:sp>
      <p:sp>
        <p:nvSpPr>
          <p:cNvPr id="14" name="TextBox 13"/>
          <p:cNvSpPr txBox="1"/>
          <p:nvPr/>
        </p:nvSpPr>
        <p:spPr>
          <a:xfrm>
            <a:off x="5303520" y="2560320"/>
            <a:ext cx="6217920" cy="347472"/>
          </a:xfrm>
          <a:prstGeom prst="rect">
            <a:avLst/>
          </a:prstGeom>
          <a:noFill/>
        </p:spPr>
        <p:txBody>
          <a:bodyPr wrap="square">
            <a:spAutoFit/>
          </a:bodyPr>
          <a:lstStyle/>
          <a:p>
            <a:pPr algn="l"/>
            <a:r>
              <a:rPr sz="1400" b="0">
                <a:solidFill>
                  <a:srgbClr val="9CA3AF"/>
                </a:solidFill>
                <a:latin typeface="Calibri"/>
              </a:rPr>
              <a:t>~358 positives</a:t>
            </a:r>
          </a:p>
        </p:txBody>
      </p:sp>
      <p:sp>
        <p:nvSpPr>
          <p:cNvPr id="15" name="TextBox 14"/>
          <p:cNvSpPr txBox="1"/>
          <p:nvPr/>
        </p:nvSpPr>
        <p:spPr>
          <a:xfrm>
            <a:off x="594360" y="2971800"/>
            <a:ext cx="2286000" cy="347472"/>
          </a:xfrm>
          <a:prstGeom prst="rect">
            <a:avLst/>
          </a:prstGeom>
          <a:noFill/>
        </p:spPr>
        <p:txBody>
          <a:bodyPr wrap="square">
            <a:spAutoFit/>
          </a:bodyPr>
          <a:lstStyle/>
          <a:p>
            <a:pPr algn="l"/>
            <a:r>
              <a:rPr sz="1400" b="1">
                <a:solidFill>
                  <a:srgbClr val="FFFFFF"/>
                </a:solidFill>
                <a:latin typeface="Calibri"/>
              </a:rPr>
              <a:t>Validation set</a:t>
            </a:r>
          </a:p>
        </p:txBody>
      </p:sp>
      <p:sp>
        <p:nvSpPr>
          <p:cNvPr id="16" name="TextBox 15"/>
          <p:cNvSpPr txBox="1"/>
          <p:nvPr/>
        </p:nvSpPr>
        <p:spPr>
          <a:xfrm>
            <a:off x="2926080" y="2971800"/>
            <a:ext cx="2286000" cy="347472"/>
          </a:xfrm>
          <a:prstGeom prst="rect">
            <a:avLst/>
          </a:prstGeom>
          <a:noFill/>
        </p:spPr>
        <p:txBody>
          <a:bodyPr wrap="square">
            <a:spAutoFit/>
          </a:bodyPr>
          <a:lstStyle/>
          <a:p>
            <a:pPr algn="l"/>
            <a:r>
              <a:rPr sz="1400" b="0">
                <a:solidFill>
                  <a:srgbClr val="00D48A"/>
                </a:solidFill>
                <a:latin typeface="Calibri"/>
              </a:rPr>
              <a:t>~2.78M rows</a:t>
            </a:r>
          </a:p>
        </p:txBody>
      </p:sp>
      <p:sp>
        <p:nvSpPr>
          <p:cNvPr id="17" name="TextBox 16"/>
          <p:cNvSpPr txBox="1"/>
          <p:nvPr/>
        </p:nvSpPr>
        <p:spPr>
          <a:xfrm>
            <a:off x="5303520" y="2971800"/>
            <a:ext cx="6217920" cy="347472"/>
          </a:xfrm>
          <a:prstGeom prst="rect">
            <a:avLst/>
          </a:prstGeom>
          <a:noFill/>
        </p:spPr>
        <p:txBody>
          <a:bodyPr wrap="square">
            <a:spAutoFit/>
          </a:bodyPr>
          <a:lstStyle/>
          <a:p>
            <a:pPr algn="l"/>
            <a:r>
              <a:rPr sz="1400" b="0">
                <a:solidFill>
                  <a:srgbClr val="9CA3AF"/>
                </a:solidFill>
                <a:latin typeface="Calibri"/>
              </a:rPr>
              <a:t>~119 positives</a:t>
            </a:r>
          </a:p>
        </p:txBody>
      </p:sp>
      <p:sp>
        <p:nvSpPr>
          <p:cNvPr id="18" name="TextBox 17"/>
          <p:cNvSpPr txBox="1"/>
          <p:nvPr/>
        </p:nvSpPr>
        <p:spPr>
          <a:xfrm>
            <a:off x="594360" y="3383280"/>
            <a:ext cx="2286000" cy="347472"/>
          </a:xfrm>
          <a:prstGeom prst="rect">
            <a:avLst/>
          </a:prstGeom>
          <a:noFill/>
        </p:spPr>
        <p:txBody>
          <a:bodyPr wrap="square">
            <a:spAutoFit/>
          </a:bodyPr>
          <a:lstStyle/>
          <a:p>
            <a:pPr algn="l"/>
            <a:r>
              <a:rPr sz="1400" b="1">
                <a:solidFill>
                  <a:srgbClr val="FFFFFF"/>
                </a:solidFill>
                <a:latin typeface="Calibri"/>
              </a:rPr>
              <a:t>Test set</a:t>
            </a:r>
          </a:p>
        </p:txBody>
      </p:sp>
      <p:sp>
        <p:nvSpPr>
          <p:cNvPr id="19" name="TextBox 18"/>
          <p:cNvSpPr txBox="1"/>
          <p:nvPr/>
        </p:nvSpPr>
        <p:spPr>
          <a:xfrm>
            <a:off x="2926080" y="3383280"/>
            <a:ext cx="2286000" cy="347472"/>
          </a:xfrm>
          <a:prstGeom prst="rect">
            <a:avLst/>
          </a:prstGeom>
          <a:noFill/>
        </p:spPr>
        <p:txBody>
          <a:bodyPr wrap="square">
            <a:spAutoFit/>
          </a:bodyPr>
          <a:lstStyle/>
          <a:p>
            <a:pPr algn="l"/>
            <a:r>
              <a:rPr sz="1400" b="0">
                <a:solidFill>
                  <a:srgbClr val="00D48A"/>
                </a:solidFill>
                <a:latin typeface="Calibri"/>
              </a:rPr>
              <a:t>~2.78M rows</a:t>
            </a:r>
          </a:p>
        </p:txBody>
      </p:sp>
      <p:sp>
        <p:nvSpPr>
          <p:cNvPr id="20" name="TextBox 19"/>
          <p:cNvSpPr txBox="1"/>
          <p:nvPr/>
        </p:nvSpPr>
        <p:spPr>
          <a:xfrm>
            <a:off x="5303520" y="3383280"/>
            <a:ext cx="6217920" cy="347472"/>
          </a:xfrm>
          <a:prstGeom prst="rect">
            <a:avLst/>
          </a:prstGeom>
          <a:noFill/>
        </p:spPr>
        <p:txBody>
          <a:bodyPr wrap="square">
            <a:spAutoFit/>
          </a:bodyPr>
          <a:lstStyle/>
          <a:p>
            <a:pPr algn="l"/>
            <a:r>
              <a:rPr sz="1400" b="0">
                <a:solidFill>
                  <a:srgbClr val="9CA3AF"/>
                </a:solidFill>
                <a:latin typeface="Calibri"/>
              </a:rPr>
              <a:t>~119 positives  ← reported in results</a:t>
            </a:r>
          </a:p>
        </p:txBody>
      </p:sp>
      <p:sp>
        <p:nvSpPr>
          <p:cNvPr id="21" name="Rectangle 20"/>
          <p:cNvSpPr/>
          <p:nvPr/>
        </p:nvSpPr>
        <p:spPr>
          <a:xfrm>
            <a:off x="365760" y="3794760"/>
            <a:ext cx="11430000" cy="256032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3840480"/>
            <a:ext cx="10972800" cy="347472"/>
          </a:xfrm>
          <a:prstGeom prst="rect">
            <a:avLst/>
          </a:prstGeom>
          <a:noFill/>
        </p:spPr>
        <p:txBody>
          <a:bodyPr wrap="square">
            <a:spAutoFit/>
          </a:bodyPr>
          <a:lstStyle/>
          <a:p>
            <a:pPr algn="l"/>
            <a:r>
              <a:rPr sz="1500" b="1">
                <a:solidFill>
                  <a:srgbClr val="FFB800"/>
                </a:solidFill>
                <a:latin typeface="Calibri"/>
              </a:rPr>
              <a:t>Why k-fold was not used (honest explanation):</a:t>
            </a:r>
          </a:p>
        </p:txBody>
      </p:sp>
      <p:sp>
        <p:nvSpPr>
          <p:cNvPr id="23" name="TextBox 22"/>
          <p:cNvSpPr txBox="1"/>
          <p:nvPr/>
        </p:nvSpPr>
        <p:spPr>
          <a:xfrm>
            <a:off x="548640" y="4251960"/>
            <a:ext cx="11064240" cy="2011680"/>
          </a:xfrm>
          <a:prstGeom prst="rect">
            <a:avLst/>
          </a:prstGeom>
          <a:noFill/>
        </p:spPr>
        <p:txBody>
          <a:bodyPr wrap="square">
            <a:spAutoFit/>
          </a:bodyPr>
          <a:lstStyle/>
          <a:p>
            <a:pPr algn="l"/>
            <a:r>
              <a:rPr sz="1300" b="0">
                <a:solidFill>
                  <a:srgbClr val="9CA3AF"/>
                </a:solidFill>
                <a:latin typeface="Calibri"/>
              </a:rPr>
              <a:t>1.  Time-ordered security telemetry: random k-fold shuffles rows, leaking future behavioral patterns into training.
2.  Chronological split tested: red-team campaign is concentrated in the final weeks → strict time split places
     nearly ALL 596 positives in training → validation/test have zero positives → all metrics = NaN/undefined.
3.  Resolution: stratified random 60/20/20 preserves positive rate (~119/set). The lead() target construction
     prevents within-row temporal leakage. Hyperparameters tuned on validation set (= inner loop of nested k-fold
     without resampling). This is a deliberate, defensible choice — not an oversight.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Results — All Models Across Validation &amp; Test</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PR AUC is the primary metric</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9/12</a:t>
            </a:r>
          </a:p>
        </p:txBody>
      </p:sp>
      <p:sp>
        <p:nvSpPr>
          <p:cNvPr id="6" name="Rectangle 5"/>
          <p:cNvSpPr/>
          <p:nvPr/>
        </p:nvSpPr>
        <p:spPr>
          <a:xfrm>
            <a:off x="457200" y="1463040"/>
            <a:ext cx="288036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27048"/>
            <a:ext cx="2743200" cy="347472"/>
          </a:xfrm>
          <a:prstGeom prst="rect">
            <a:avLst/>
          </a:prstGeom>
          <a:noFill/>
        </p:spPr>
        <p:txBody>
          <a:bodyPr wrap="square">
            <a:spAutoFit/>
          </a:bodyPr>
          <a:lstStyle/>
          <a:p>
            <a:pPr algn="l"/>
            <a:r>
              <a:rPr sz="1300" b="1">
                <a:solidFill>
                  <a:srgbClr val="00D48A"/>
                </a:solidFill>
                <a:latin typeface="Calibri"/>
              </a:rPr>
              <a:t>Model</a:t>
            </a:r>
          </a:p>
        </p:txBody>
      </p:sp>
      <p:sp>
        <p:nvSpPr>
          <p:cNvPr id="8" name="Rectangle 7"/>
          <p:cNvSpPr/>
          <p:nvPr/>
        </p:nvSpPr>
        <p:spPr>
          <a:xfrm>
            <a:off x="338328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0" y="1527048"/>
            <a:ext cx="1737360" cy="347472"/>
          </a:xfrm>
          <a:prstGeom prst="rect">
            <a:avLst/>
          </a:prstGeom>
          <a:noFill/>
        </p:spPr>
        <p:txBody>
          <a:bodyPr wrap="square">
            <a:spAutoFit/>
          </a:bodyPr>
          <a:lstStyle/>
          <a:p>
            <a:pPr algn="l"/>
            <a:r>
              <a:rPr sz="1300" b="1">
                <a:solidFill>
                  <a:srgbClr val="00D48A"/>
                </a:solidFill>
                <a:latin typeface="Calibri"/>
              </a:rPr>
              <a:t>Valid ROC AUC</a:t>
            </a:r>
          </a:p>
        </p:txBody>
      </p:sp>
      <p:sp>
        <p:nvSpPr>
          <p:cNvPr id="10" name="Rectangle 9"/>
          <p:cNvSpPr/>
          <p:nvPr/>
        </p:nvSpPr>
        <p:spPr>
          <a:xfrm>
            <a:off x="530352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94960" y="1527048"/>
            <a:ext cx="1737360" cy="347472"/>
          </a:xfrm>
          <a:prstGeom prst="rect">
            <a:avLst/>
          </a:prstGeom>
          <a:noFill/>
        </p:spPr>
        <p:txBody>
          <a:bodyPr wrap="square">
            <a:spAutoFit/>
          </a:bodyPr>
          <a:lstStyle/>
          <a:p>
            <a:pPr algn="l"/>
            <a:r>
              <a:rPr sz="1300" b="1">
                <a:solidFill>
                  <a:srgbClr val="00D48A"/>
                </a:solidFill>
                <a:latin typeface="Calibri"/>
              </a:rPr>
              <a:t>Valid PR AUC</a:t>
            </a:r>
          </a:p>
        </p:txBody>
      </p:sp>
      <p:sp>
        <p:nvSpPr>
          <p:cNvPr id="12" name="Rectangle 11"/>
          <p:cNvSpPr/>
          <p:nvPr/>
        </p:nvSpPr>
        <p:spPr>
          <a:xfrm>
            <a:off x="722376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0" y="1527048"/>
            <a:ext cx="1737360" cy="347472"/>
          </a:xfrm>
          <a:prstGeom prst="rect">
            <a:avLst/>
          </a:prstGeom>
          <a:noFill/>
        </p:spPr>
        <p:txBody>
          <a:bodyPr wrap="square">
            <a:spAutoFit/>
          </a:bodyPr>
          <a:lstStyle/>
          <a:p>
            <a:pPr algn="l"/>
            <a:r>
              <a:rPr sz="1300" b="1">
                <a:solidFill>
                  <a:srgbClr val="00D48A"/>
                </a:solidFill>
                <a:latin typeface="Calibri"/>
              </a:rPr>
              <a:t>Test ROC AUC</a:t>
            </a:r>
          </a:p>
        </p:txBody>
      </p:sp>
      <p:sp>
        <p:nvSpPr>
          <p:cNvPr id="14" name="Rectangle 13"/>
          <p:cNvSpPr/>
          <p:nvPr/>
        </p:nvSpPr>
        <p:spPr>
          <a:xfrm>
            <a:off x="9144000" y="1463040"/>
            <a:ext cx="1874520" cy="457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1527048"/>
            <a:ext cx="1737360" cy="347472"/>
          </a:xfrm>
          <a:prstGeom prst="rect">
            <a:avLst/>
          </a:prstGeom>
          <a:noFill/>
        </p:spPr>
        <p:txBody>
          <a:bodyPr wrap="square">
            <a:spAutoFit/>
          </a:bodyPr>
          <a:lstStyle/>
          <a:p>
            <a:pPr algn="l"/>
            <a:r>
              <a:rPr sz="1300" b="1">
                <a:solidFill>
                  <a:srgbClr val="00D48A"/>
                </a:solidFill>
                <a:latin typeface="Calibri"/>
              </a:rPr>
              <a:t>Test PR AUC</a:t>
            </a:r>
          </a:p>
        </p:txBody>
      </p:sp>
      <p:sp>
        <p:nvSpPr>
          <p:cNvPr id="16" name="Rectangle 15"/>
          <p:cNvSpPr/>
          <p:nvPr/>
        </p:nvSpPr>
        <p:spPr>
          <a:xfrm>
            <a:off x="457200" y="1965960"/>
            <a:ext cx="288036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2075688"/>
            <a:ext cx="2743200" cy="365760"/>
          </a:xfrm>
          <a:prstGeom prst="rect">
            <a:avLst/>
          </a:prstGeom>
          <a:noFill/>
        </p:spPr>
        <p:txBody>
          <a:bodyPr wrap="square">
            <a:spAutoFit/>
          </a:bodyPr>
          <a:lstStyle/>
          <a:p>
            <a:pPr algn="l"/>
            <a:r>
              <a:rPr sz="1400" b="0">
                <a:solidFill>
                  <a:srgbClr val="FFFFFF"/>
                </a:solidFill>
                <a:latin typeface="Calibri"/>
              </a:rPr>
              <a:t>Logistic Regression</a:t>
            </a:r>
          </a:p>
        </p:txBody>
      </p:sp>
      <p:sp>
        <p:nvSpPr>
          <p:cNvPr id="18" name="Rectangle 17"/>
          <p:cNvSpPr/>
          <p:nvPr/>
        </p:nvSpPr>
        <p:spPr>
          <a:xfrm>
            <a:off x="3383280" y="1965960"/>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74720" y="2075688"/>
            <a:ext cx="1737360" cy="365760"/>
          </a:xfrm>
          <a:prstGeom prst="rect">
            <a:avLst/>
          </a:prstGeom>
          <a:noFill/>
        </p:spPr>
        <p:txBody>
          <a:bodyPr wrap="square">
            <a:spAutoFit/>
          </a:bodyPr>
          <a:lstStyle/>
          <a:p>
            <a:pPr algn="l"/>
            <a:r>
              <a:rPr sz="1400" b="0">
                <a:solidFill>
                  <a:srgbClr val="FFFFFF"/>
                </a:solidFill>
                <a:latin typeface="Calibri"/>
              </a:rPr>
              <a:t>0.802</a:t>
            </a:r>
          </a:p>
        </p:txBody>
      </p:sp>
      <p:sp>
        <p:nvSpPr>
          <p:cNvPr id="20" name="Rectangle 19"/>
          <p:cNvSpPr/>
          <p:nvPr/>
        </p:nvSpPr>
        <p:spPr>
          <a:xfrm>
            <a:off x="5303520" y="1965960"/>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94960" y="2075688"/>
            <a:ext cx="1737360" cy="365760"/>
          </a:xfrm>
          <a:prstGeom prst="rect">
            <a:avLst/>
          </a:prstGeom>
          <a:noFill/>
        </p:spPr>
        <p:txBody>
          <a:bodyPr wrap="square">
            <a:spAutoFit/>
          </a:bodyPr>
          <a:lstStyle/>
          <a:p>
            <a:pPr algn="l"/>
            <a:r>
              <a:rPr sz="1400" b="1">
                <a:solidFill>
                  <a:srgbClr val="00D48A"/>
                </a:solidFill>
                <a:latin typeface="Calibri"/>
              </a:rPr>
              <a:t>0.000658</a:t>
            </a:r>
          </a:p>
        </p:txBody>
      </p:sp>
      <p:sp>
        <p:nvSpPr>
          <p:cNvPr id="22" name="Rectangle 21"/>
          <p:cNvSpPr/>
          <p:nvPr/>
        </p:nvSpPr>
        <p:spPr>
          <a:xfrm>
            <a:off x="7223760" y="1965960"/>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0" y="2075688"/>
            <a:ext cx="1737360" cy="365760"/>
          </a:xfrm>
          <a:prstGeom prst="rect">
            <a:avLst/>
          </a:prstGeom>
          <a:noFill/>
        </p:spPr>
        <p:txBody>
          <a:bodyPr wrap="square">
            <a:spAutoFit/>
          </a:bodyPr>
          <a:lstStyle/>
          <a:p>
            <a:pPr algn="l"/>
            <a:r>
              <a:rPr sz="1400" b="0">
                <a:solidFill>
                  <a:srgbClr val="FFFFFF"/>
                </a:solidFill>
                <a:latin typeface="Calibri"/>
              </a:rPr>
              <a:t>0.820</a:t>
            </a:r>
          </a:p>
        </p:txBody>
      </p:sp>
      <p:sp>
        <p:nvSpPr>
          <p:cNvPr id="24" name="Rectangle 23"/>
          <p:cNvSpPr/>
          <p:nvPr/>
        </p:nvSpPr>
        <p:spPr>
          <a:xfrm>
            <a:off x="9144000" y="1965960"/>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235440" y="2075688"/>
            <a:ext cx="1737360" cy="365760"/>
          </a:xfrm>
          <a:prstGeom prst="rect">
            <a:avLst/>
          </a:prstGeom>
          <a:noFill/>
        </p:spPr>
        <p:txBody>
          <a:bodyPr wrap="square">
            <a:spAutoFit/>
          </a:bodyPr>
          <a:lstStyle/>
          <a:p>
            <a:pPr algn="l"/>
            <a:r>
              <a:rPr sz="1400" b="1">
                <a:solidFill>
                  <a:srgbClr val="00D48A"/>
                </a:solidFill>
                <a:latin typeface="Calibri"/>
              </a:rPr>
              <a:t>0.00111</a:t>
            </a:r>
          </a:p>
        </p:txBody>
      </p:sp>
      <p:sp>
        <p:nvSpPr>
          <p:cNvPr id="26" name="Rectangle 25"/>
          <p:cNvSpPr/>
          <p:nvPr/>
        </p:nvSpPr>
        <p:spPr>
          <a:xfrm>
            <a:off x="457200" y="2578608"/>
            <a:ext cx="288036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2688336"/>
            <a:ext cx="2743200" cy="365760"/>
          </a:xfrm>
          <a:prstGeom prst="rect">
            <a:avLst/>
          </a:prstGeom>
          <a:noFill/>
        </p:spPr>
        <p:txBody>
          <a:bodyPr wrap="square">
            <a:spAutoFit/>
          </a:bodyPr>
          <a:lstStyle/>
          <a:p>
            <a:pPr algn="l"/>
            <a:r>
              <a:rPr sz="1400" b="0">
                <a:solidFill>
                  <a:srgbClr val="FFFFFF"/>
                </a:solidFill>
                <a:latin typeface="Calibri"/>
              </a:rPr>
              <a:t>Random Forest</a:t>
            </a:r>
          </a:p>
        </p:txBody>
      </p:sp>
      <p:sp>
        <p:nvSpPr>
          <p:cNvPr id="28" name="Rectangle 27"/>
          <p:cNvSpPr/>
          <p:nvPr/>
        </p:nvSpPr>
        <p:spPr>
          <a:xfrm>
            <a:off x="3383280" y="2578608"/>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474720" y="2688336"/>
            <a:ext cx="1737360" cy="365760"/>
          </a:xfrm>
          <a:prstGeom prst="rect">
            <a:avLst/>
          </a:prstGeom>
          <a:noFill/>
        </p:spPr>
        <p:txBody>
          <a:bodyPr wrap="square">
            <a:spAutoFit/>
          </a:bodyPr>
          <a:lstStyle/>
          <a:p>
            <a:pPr algn="l"/>
            <a:r>
              <a:rPr sz="1400" b="0">
                <a:solidFill>
                  <a:srgbClr val="FFFFFF"/>
                </a:solidFill>
                <a:latin typeface="Calibri"/>
              </a:rPr>
              <a:t>0.698</a:t>
            </a:r>
          </a:p>
        </p:txBody>
      </p:sp>
      <p:sp>
        <p:nvSpPr>
          <p:cNvPr id="30" name="Rectangle 29"/>
          <p:cNvSpPr/>
          <p:nvPr/>
        </p:nvSpPr>
        <p:spPr>
          <a:xfrm>
            <a:off x="5303520" y="2578608"/>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94960" y="2688336"/>
            <a:ext cx="1737360" cy="365760"/>
          </a:xfrm>
          <a:prstGeom prst="rect">
            <a:avLst/>
          </a:prstGeom>
          <a:noFill/>
        </p:spPr>
        <p:txBody>
          <a:bodyPr wrap="square">
            <a:spAutoFit/>
          </a:bodyPr>
          <a:lstStyle/>
          <a:p>
            <a:pPr algn="l"/>
            <a:r>
              <a:rPr sz="1400" b="1">
                <a:solidFill>
                  <a:srgbClr val="00D48A"/>
                </a:solidFill>
                <a:latin typeface="Calibri"/>
              </a:rPr>
              <a:t>0.000186</a:t>
            </a:r>
          </a:p>
        </p:txBody>
      </p:sp>
      <p:sp>
        <p:nvSpPr>
          <p:cNvPr id="32" name="Rectangle 31"/>
          <p:cNvSpPr/>
          <p:nvPr/>
        </p:nvSpPr>
        <p:spPr>
          <a:xfrm>
            <a:off x="7223760" y="2578608"/>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0" y="2688336"/>
            <a:ext cx="1737360" cy="365760"/>
          </a:xfrm>
          <a:prstGeom prst="rect">
            <a:avLst/>
          </a:prstGeom>
          <a:noFill/>
        </p:spPr>
        <p:txBody>
          <a:bodyPr wrap="square">
            <a:spAutoFit/>
          </a:bodyPr>
          <a:lstStyle/>
          <a:p>
            <a:pPr algn="l"/>
            <a:r>
              <a:rPr sz="1400" b="0">
                <a:solidFill>
                  <a:srgbClr val="FFFFFF"/>
                </a:solidFill>
                <a:latin typeface="Calibri"/>
              </a:rPr>
              <a:t>0.748</a:t>
            </a:r>
          </a:p>
        </p:txBody>
      </p:sp>
      <p:sp>
        <p:nvSpPr>
          <p:cNvPr id="34" name="Rectangle 33"/>
          <p:cNvSpPr/>
          <p:nvPr/>
        </p:nvSpPr>
        <p:spPr>
          <a:xfrm>
            <a:off x="9144000" y="2578608"/>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235440" y="2688336"/>
            <a:ext cx="1737360" cy="365760"/>
          </a:xfrm>
          <a:prstGeom prst="rect">
            <a:avLst/>
          </a:prstGeom>
          <a:noFill/>
        </p:spPr>
        <p:txBody>
          <a:bodyPr wrap="square">
            <a:spAutoFit/>
          </a:bodyPr>
          <a:lstStyle/>
          <a:p>
            <a:pPr algn="l"/>
            <a:r>
              <a:rPr sz="1400" b="1">
                <a:solidFill>
                  <a:srgbClr val="00D48A"/>
                </a:solidFill>
                <a:latin typeface="Calibri"/>
              </a:rPr>
              <a:t>0.000322</a:t>
            </a:r>
          </a:p>
        </p:txBody>
      </p:sp>
      <p:sp>
        <p:nvSpPr>
          <p:cNvPr id="36" name="Rectangle 35"/>
          <p:cNvSpPr/>
          <p:nvPr/>
        </p:nvSpPr>
        <p:spPr>
          <a:xfrm>
            <a:off x="457200" y="3191256"/>
            <a:ext cx="288036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48640" y="3300984"/>
            <a:ext cx="2743200" cy="365760"/>
          </a:xfrm>
          <a:prstGeom prst="rect">
            <a:avLst/>
          </a:prstGeom>
          <a:noFill/>
        </p:spPr>
        <p:txBody>
          <a:bodyPr wrap="square">
            <a:spAutoFit/>
          </a:bodyPr>
          <a:lstStyle/>
          <a:p>
            <a:pPr algn="l"/>
            <a:r>
              <a:rPr sz="1400" b="0">
                <a:solidFill>
                  <a:srgbClr val="FFFFFF"/>
                </a:solidFill>
                <a:latin typeface="Calibri"/>
              </a:rPr>
              <a:t>XGBoost</a:t>
            </a:r>
          </a:p>
        </p:txBody>
      </p:sp>
      <p:sp>
        <p:nvSpPr>
          <p:cNvPr id="38" name="Rectangle 37"/>
          <p:cNvSpPr/>
          <p:nvPr/>
        </p:nvSpPr>
        <p:spPr>
          <a:xfrm>
            <a:off x="3383280" y="3191256"/>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474720" y="3300984"/>
            <a:ext cx="1737360" cy="365760"/>
          </a:xfrm>
          <a:prstGeom prst="rect">
            <a:avLst/>
          </a:prstGeom>
          <a:noFill/>
        </p:spPr>
        <p:txBody>
          <a:bodyPr wrap="square">
            <a:spAutoFit/>
          </a:bodyPr>
          <a:lstStyle/>
          <a:p>
            <a:pPr algn="l"/>
            <a:r>
              <a:rPr sz="1400" b="0">
                <a:solidFill>
                  <a:srgbClr val="FFFFFF"/>
                </a:solidFill>
                <a:latin typeface="Calibri"/>
              </a:rPr>
              <a:t>0.844</a:t>
            </a:r>
          </a:p>
        </p:txBody>
      </p:sp>
      <p:sp>
        <p:nvSpPr>
          <p:cNvPr id="40" name="Rectangle 39"/>
          <p:cNvSpPr/>
          <p:nvPr/>
        </p:nvSpPr>
        <p:spPr>
          <a:xfrm>
            <a:off x="5303520" y="3191256"/>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394960" y="3300984"/>
            <a:ext cx="1737360" cy="365760"/>
          </a:xfrm>
          <a:prstGeom prst="rect">
            <a:avLst/>
          </a:prstGeom>
          <a:noFill/>
        </p:spPr>
        <p:txBody>
          <a:bodyPr wrap="square">
            <a:spAutoFit/>
          </a:bodyPr>
          <a:lstStyle/>
          <a:p>
            <a:pPr algn="l"/>
            <a:r>
              <a:rPr sz="1400" b="1">
                <a:solidFill>
                  <a:srgbClr val="00D48A"/>
                </a:solidFill>
                <a:latin typeface="Calibri"/>
              </a:rPr>
              <a:t>0.001737</a:t>
            </a:r>
          </a:p>
        </p:txBody>
      </p:sp>
      <p:sp>
        <p:nvSpPr>
          <p:cNvPr id="42" name="Rectangle 41"/>
          <p:cNvSpPr/>
          <p:nvPr/>
        </p:nvSpPr>
        <p:spPr>
          <a:xfrm>
            <a:off x="7223760" y="3191256"/>
            <a:ext cx="1874520" cy="566928"/>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315200" y="3300984"/>
            <a:ext cx="1737360" cy="365760"/>
          </a:xfrm>
          <a:prstGeom prst="rect">
            <a:avLst/>
          </a:prstGeom>
          <a:noFill/>
        </p:spPr>
        <p:txBody>
          <a:bodyPr wrap="square">
            <a:spAutoFit/>
          </a:bodyPr>
          <a:lstStyle/>
          <a:p>
            <a:pPr algn="l"/>
            <a:r>
              <a:rPr sz="1400" b="0">
                <a:solidFill>
                  <a:srgbClr val="FFFFFF"/>
                </a:solidFill>
                <a:latin typeface="Calibri"/>
              </a:rPr>
              <a:t>0.879</a:t>
            </a:r>
          </a:p>
        </p:txBody>
      </p:sp>
      <p:sp>
        <p:nvSpPr>
          <p:cNvPr id="44" name="Rectangle 43"/>
          <p:cNvSpPr/>
          <p:nvPr/>
        </p:nvSpPr>
        <p:spPr>
          <a:xfrm>
            <a:off x="9144000" y="3191256"/>
            <a:ext cx="1874520" cy="566928"/>
          </a:xfrm>
          <a:prstGeom prst="rect">
            <a:avLst/>
          </a:prstGeom>
          <a:solidFill>
            <a:srgbClr val="1E28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235440" y="3300984"/>
            <a:ext cx="1737360" cy="365760"/>
          </a:xfrm>
          <a:prstGeom prst="rect">
            <a:avLst/>
          </a:prstGeom>
          <a:noFill/>
        </p:spPr>
        <p:txBody>
          <a:bodyPr wrap="square">
            <a:spAutoFit/>
          </a:bodyPr>
          <a:lstStyle/>
          <a:p>
            <a:pPr algn="l"/>
            <a:r>
              <a:rPr sz="1400" b="1">
                <a:solidFill>
                  <a:srgbClr val="00D48A"/>
                </a:solidFill>
                <a:latin typeface="Calibri"/>
              </a:rPr>
              <a:t>0.03542</a:t>
            </a:r>
          </a:p>
        </p:txBody>
      </p:sp>
      <p:sp>
        <p:nvSpPr>
          <p:cNvPr id="46" name="Rectangle 45"/>
          <p:cNvSpPr/>
          <p:nvPr/>
        </p:nvSpPr>
        <p:spPr>
          <a:xfrm>
            <a:off x="457200" y="3803904"/>
            <a:ext cx="288036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48640" y="3913632"/>
            <a:ext cx="2743200" cy="365760"/>
          </a:xfrm>
          <a:prstGeom prst="rect">
            <a:avLst/>
          </a:prstGeom>
          <a:noFill/>
        </p:spPr>
        <p:txBody>
          <a:bodyPr wrap="square">
            <a:spAutoFit/>
          </a:bodyPr>
          <a:lstStyle/>
          <a:p>
            <a:pPr algn="l"/>
            <a:r>
              <a:rPr sz="1400" b="1">
                <a:solidFill>
                  <a:srgbClr val="0D1117"/>
                </a:solidFill>
                <a:latin typeface="Calibri"/>
              </a:rPr>
              <a:t>LightGBM  ← WINNER</a:t>
            </a:r>
          </a:p>
        </p:txBody>
      </p:sp>
      <p:sp>
        <p:nvSpPr>
          <p:cNvPr id="48" name="Rectangle 47"/>
          <p:cNvSpPr/>
          <p:nvPr/>
        </p:nvSpPr>
        <p:spPr>
          <a:xfrm>
            <a:off x="338328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474720" y="3913632"/>
            <a:ext cx="1737360" cy="365760"/>
          </a:xfrm>
          <a:prstGeom prst="rect">
            <a:avLst/>
          </a:prstGeom>
          <a:noFill/>
        </p:spPr>
        <p:txBody>
          <a:bodyPr wrap="square">
            <a:spAutoFit/>
          </a:bodyPr>
          <a:lstStyle/>
          <a:p>
            <a:pPr algn="l"/>
            <a:r>
              <a:rPr sz="1400" b="1">
                <a:solidFill>
                  <a:srgbClr val="0D1117"/>
                </a:solidFill>
                <a:latin typeface="Calibri"/>
              </a:rPr>
              <a:t>0.838</a:t>
            </a:r>
          </a:p>
        </p:txBody>
      </p:sp>
      <p:sp>
        <p:nvSpPr>
          <p:cNvPr id="50" name="Rectangle 49"/>
          <p:cNvSpPr/>
          <p:nvPr/>
        </p:nvSpPr>
        <p:spPr>
          <a:xfrm>
            <a:off x="530352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394960" y="3913632"/>
            <a:ext cx="1737360" cy="365760"/>
          </a:xfrm>
          <a:prstGeom prst="rect">
            <a:avLst/>
          </a:prstGeom>
          <a:noFill/>
        </p:spPr>
        <p:txBody>
          <a:bodyPr wrap="square">
            <a:spAutoFit/>
          </a:bodyPr>
          <a:lstStyle/>
          <a:p>
            <a:pPr algn="l"/>
            <a:r>
              <a:rPr sz="1400" b="1">
                <a:solidFill>
                  <a:srgbClr val="0D1117"/>
                </a:solidFill>
                <a:latin typeface="Calibri"/>
              </a:rPr>
              <a:t>0.001615</a:t>
            </a:r>
          </a:p>
        </p:txBody>
      </p:sp>
      <p:sp>
        <p:nvSpPr>
          <p:cNvPr id="52" name="Rectangle 51"/>
          <p:cNvSpPr/>
          <p:nvPr/>
        </p:nvSpPr>
        <p:spPr>
          <a:xfrm>
            <a:off x="722376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315200" y="3913632"/>
            <a:ext cx="1737360" cy="365760"/>
          </a:xfrm>
          <a:prstGeom prst="rect">
            <a:avLst/>
          </a:prstGeom>
          <a:noFill/>
        </p:spPr>
        <p:txBody>
          <a:bodyPr wrap="square">
            <a:spAutoFit/>
          </a:bodyPr>
          <a:lstStyle/>
          <a:p>
            <a:pPr algn="l"/>
            <a:r>
              <a:rPr sz="1400" b="1">
                <a:solidFill>
                  <a:srgbClr val="0D1117"/>
                </a:solidFill>
                <a:latin typeface="Calibri"/>
              </a:rPr>
              <a:t>0.881</a:t>
            </a:r>
          </a:p>
        </p:txBody>
      </p:sp>
      <p:sp>
        <p:nvSpPr>
          <p:cNvPr id="54" name="Rectangle 53"/>
          <p:cNvSpPr/>
          <p:nvPr/>
        </p:nvSpPr>
        <p:spPr>
          <a:xfrm>
            <a:off x="9144000" y="3803904"/>
            <a:ext cx="1874520" cy="566928"/>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9235440" y="3913632"/>
            <a:ext cx="1737360" cy="365760"/>
          </a:xfrm>
          <a:prstGeom prst="rect">
            <a:avLst/>
          </a:prstGeom>
          <a:noFill/>
        </p:spPr>
        <p:txBody>
          <a:bodyPr wrap="square">
            <a:spAutoFit/>
          </a:bodyPr>
          <a:lstStyle/>
          <a:p>
            <a:pPr algn="l"/>
            <a:r>
              <a:rPr sz="1400" b="1">
                <a:solidFill>
                  <a:srgbClr val="0D1117"/>
                </a:solidFill>
                <a:latin typeface="Calibri"/>
              </a:rPr>
              <a:t>0.03905</a:t>
            </a:r>
          </a:p>
        </p:txBody>
      </p:sp>
      <p:sp>
        <p:nvSpPr>
          <p:cNvPr id="56" name="Rectangle 55"/>
          <p:cNvSpPr/>
          <p:nvPr/>
        </p:nvSpPr>
        <p:spPr>
          <a:xfrm>
            <a:off x="457200" y="498348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4360" y="5074920"/>
            <a:ext cx="3291840" cy="365760"/>
          </a:xfrm>
          <a:prstGeom prst="rect">
            <a:avLst/>
          </a:prstGeom>
          <a:noFill/>
        </p:spPr>
        <p:txBody>
          <a:bodyPr wrap="square">
            <a:spAutoFit/>
          </a:bodyPr>
          <a:lstStyle/>
          <a:p>
            <a:pPr algn="l"/>
            <a:r>
              <a:rPr sz="1300" b="0">
                <a:solidFill>
                  <a:srgbClr val="9CA3AF"/>
                </a:solidFill>
                <a:latin typeface="Calibri"/>
              </a:rPr>
              <a:t>LightGBM PR AUC lift over random</a:t>
            </a:r>
          </a:p>
        </p:txBody>
      </p:sp>
      <p:sp>
        <p:nvSpPr>
          <p:cNvPr id="58" name="TextBox 57"/>
          <p:cNvSpPr txBox="1"/>
          <p:nvPr/>
        </p:nvSpPr>
        <p:spPr>
          <a:xfrm>
            <a:off x="594360" y="5394960"/>
            <a:ext cx="3291840" cy="502920"/>
          </a:xfrm>
          <a:prstGeom prst="rect">
            <a:avLst/>
          </a:prstGeom>
          <a:noFill/>
        </p:spPr>
        <p:txBody>
          <a:bodyPr wrap="square">
            <a:spAutoFit/>
          </a:bodyPr>
          <a:lstStyle/>
          <a:p>
            <a:pPr algn="l"/>
            <a:r>
              <a:rPr sz="2200" b="1">
                <a:solidFill>
                  <a:srgbClr val="00D48A"/>
                </a:solidFill>
                <a:latin typeface="Calibri"/>
              </a:rPr>
              <a:t>909×</a:t>
            </a:r>
          </a:p>
        </p:txBody>
      </p:sp>
      <p:sp>
        <p:nvSpPr>
          <p:cNvPr id="59" name="TextBox 58"/>
          <p:cNvSpPr txBox="1"/>
          <p:nvPr/>
        </p:nvSpPr>
        <p:spPr>
          <a:xfrm>
            <a:off x="594360" y="5852160"/>
            <a:ext cx="3291840" cy="365760"/>
          </a:xfrm>
          <a:prstGeom prst="rect">
            <a:avLst/>
          </a:prstGeom>
          <a:noFill/>
        </p:spPr>
        <p:txBody>
          <a:bodyPr wrap="square">
            <a:spAutoFit/>
          </a:bodyPr>
          <a:lstStyle/>
          <a:p>
            <a:pPr algn="l"/>
            <a:r>
              <a:rPr sz="1200" b="0">
                <a:solidFill>
                  <a:srgbClr val="9CA3AF"/>
                </a:solidFill>
                <a:latin typeface="Calibri"/>
              </a:rPr>
              <a:t>0.039 ÷ 0.0000429</a:t>
            </a:r>
          </a:p>
        </p:txBody>
      </p:sp>
      <p:sp>
        <p:nvSpPr>
          <p:cNvPr id="60" name="Rectangle 59"/>
          <p:cNvSpPr/>
          <p:nvPr/>
        </p:nvSpPr>
        <p:spPr>
          <a:xfrm>
            <a:off x="4206240" y="4983480"/>
            <a:ext cx="3566160"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343400" y="5074920"/>
            <a:ext cx="3291840" cy="365760"/>
          </a:xfrm>
          <a:prstGeom prst="rect">
            <a:avLst/>
          </a:prstGeom>
          <a:noFill/>
        </p:spPr>
        <p:txBody>
          <a:bodyPr wrap="square">
            <a:spAutoFit/>
          </a:bodyPr>
          <a:lstStyle/>
          <a:p>
            <a:pPr algn="l"/>
            <a:r>
              <a:rPr sz="1300" b="0">
                <a:solidFill>
                  <a:srgbClr val="9CA3AF"/>
                </a:solidFill>
                <a:latin typeface="Calibri"/>
              </a:rPr>
              <a:t>Lift over LR baseline (35×)</a:t>
            </a:r>
          </a:p>
        </p:txBody>
      </p:sp>
      <p:sp>
        <p:nvSpPr>
          <p:cNvPr id="62" name="TextBox 61"/>
          <p:cNvSpPr txBox="1"/>
          <p:nvPr/>
        </p:nvSpPr>
        <p:spPr>
          <a:xfrm>
            <a:off x="4343400" y="5394960"/>
            <a:ext cx="3291840" cy="502920"/>
          </a:xfrm>
          <a:prstGeom prst="rect">
            <a:avLst/>
          </a:prstGeom>
          <a:noFill/>
        </p:spPr>
        <p:txBody>
          <a:bodyPr wrap="square">
            <a:spAutoFit/>
          </a:bodyPr>
          <a:lstStyle/>
          <a:p>
            <a:pPr algn="l"/>
            <a:r>
              <a:rPr sz="2200" b="1">
                <a:solidFill>
                  <a:srgbClr val="00D48A"/>
                </a:solidFill>
                <a:latin typeface="Calibri"/>
              </a:rPr>
              <a:t>35×</a:t>
            </a:r>
          </a:p>
        </p:txBody>
      </p:sp>
      <p:sp>
        <p:nvSpPr>
          <p:cNvPr id="63" name="TextBox 62"/>
          <p:cNvSpPr txBox="1"/>
          <p:nvPr/>
        </p:nvSpPr>
        <p:spPr>
          <a:xfrm>
            <a:off x="4343400" y="5852160"/>
            <a:ext cx="3291840" cy="365760"/>
          </a:xfrm>
          <a:prstGeom prst="rect">
            <a:avLst/>
          </a:prstGeom>
          <a:noFill/>
        </p:spPr>
        <p:txBody>
          <a:bodyPr wrap="square">
            <a:spAutoFit/>
          </a:bodyPr>
          <a:lstStyle/>
          <a:p>
            <a:pPr algn="l"/>
            <a:r>
              <a:rPr sz="1200" b="0">
                <a:solidFill>
                  <a:srgbClr val="9CA3AF"/>
                </a:solidFill>
                <a:latin typeface="Calibri"/>
              </a:rPr>
              <a:t>0.039 ÷ 0.00111</a:t>
            </a:r>
          </a:p>
        </p:txBody>
      </p:sp>
      <p:sp>
        <p:nvSpPr>
          <p:cNvPr id="64" name="Rectangle 63"/>
          <p:cNvSpPr/>
          <p:nvPr/>
        </p:nvSpPr>
        <p:spPr>
          <a:xfrm>
            <a:off x="7955279" y="4983480"/>
            <a:ext cx="3749039" cy="100584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092439" y="5074920"/>
            <a:ext cx="3474719" cy="365760"/>
          </a:xfrm>
          <a:prstGeom prst="rect">
            <a:avLst/>
          </a:prstGeom>
          <a:noFill/>
        </p:spPr>
        <p:txBody>
          <a:bodyPr wrap="square">
            <a:spAutoFit/>
          </a:bodyPr>
          <a:lstStyle/>
          <a:p>
            <a:pPr algn="l"/>
            <a:r>
              <a:rPr sz="1300" b="0">
                <a:solidFill>
                  <a:srgbClr val="9CA3AF"/>
                </a:solidFill>
                <a:latin typeface="Calibri"/>
              </a:rPr>
              <a:t>LightGBM test ROC AUC</a:t>
            </a:r>
          </a:p>
        </p:txBody>
      </p:sp>
      <p:sp>
        <p:nvSpPr>
          <p:cNvPr id="66" name="TextBox 65"/>
          <p:cNvSpPr txBox="1"/>
          <p:nvPr/>
        </p:nvSpPr>
        <p:spPr>
          <a:xfrm>
            <a:off x="8092439" y="5394960"/>
            <a:ext cx="3474719" cy="502920"/>
          </a:xfrm>
          <a:prstGeom prst="rect">
            <a:avLst/>
          </a:prstGeom>
          <a:noFill/>
        </p:spPr>
        <p:txBody>
          <a:bodyPr wrap="square">
            <a:spAutoFit/>
          </a:bodyPr>
          <a:lstStyle/>
          <a:p>
            <a:pPr algn="l"/>
            <a:r>
              <a:rPr sz="2200" b="1">
                <a:solidFill>
                  <a:srgbClr val="00D48A"/>
                </a:solidFill>
                <a:latin typeface="Calibri"/>
              </a:rPr>
              <a:t>0.881</a:t>
            </a:r>
          </a:p>
        </p:txBody>
      </p:sp>
      <p:sp>
        <p:nvSpPr>
          <p:cNvPr id="67" name="TextBox 66"/>
          <p:cNvSpPr txBox="1"/>
          <p:nvPr/>
        </p:nvSpPr>
        <p:spPr>
          <a:xfrm>
            <a:off x="8092439" y="5852160"/>
            <a:ext cx="3474719" cy="365760"/>
          </a:xfrm>
          <a:prstGeom prst="rect">
            <a:avLst/>
          </a:prstGeom>
          <a:noFill/>
        </p:spPr>
        <p:txBody>
          <a:bodyPr wrap="square">
            <a:spAutoFit/>
          </a:bodyPr>
          <a:lstStyle/>
          <a:p>
            <a:pPr algn="l"/>
            <a:r>
              <a:rPr sz="1200" b="0">
                <a:solidFill>
                  <a:srgbClr val="9CA3AF"/>
                </a:solidFill>
                <a:latin typeface="Calibri"/>
              </a:rPr>
              <a:t>Best ranking performance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 y="51253"/>
            <a:ext cx="7275005" cy="523220"/>
          </a:xfrm>
          <a:prstGeom prst="rect">
            <a:avLst/>
          </a:prstGeom>
          <a:noFill/>
        </p:spPr>
        <p:txBody>
          <a:bodyPr wrap="none">
            <a:spAutoFit/>
          </a:bodyPr>
          <a:lstStyle/>
          <a:p>
            <a:r>
              <a:rPr sz="2800" b="1" dirty="0">
                <a:solidFill>
                  <a:srgbClr val="57FB72"/>
                </a:solidFill>
              </a:rPr>
              <a:t>Winning Model Diagnostics: ROC and PR Curves</a:t>
            </a:r>
          </a:p>
        </p:txBody>
      </p:sp>
      <p:sp>
        <p:nvSpPr>
          <p:cNvPr id="3" name="TextBox 2"/>
          <p:cNvSpPr txBox="1"/>
          <p:nvPr/>
        </p:nvSpPr>
        <p:spPr>
          <a:xfrm>
            <a:off x="438785" y="496418"/>
            <a:ext cx="4515660" cy="292388"/>
          </a:xfrm>
          <a:prstGeom prst="rect">
            <a:avLst/>
          </a:prstGeom>
          <a:noFill/>
        </p:spPr>
        <p:txBody>
          <a:bodyPr wrap="none">
            <a:spAutoFit/>
          </a:bodyPr>
          <a:lstStyle/>
          <a:p>
            <a:r>
              <a:rPr sz="1300" b="0" dirty="0">
                <a:solidFill>
                  <a:schemeClr val="bg2"/>
                </a:solidFill>
              </a:rPr>
              <a:t>Validation and test curves for the </a:t>
            </a:r>
            <a:r>
              <a:rPr sz="1300" b="0" dirty="0" err="1">
                <a:solidFill>
                  <a:schemeClr val="bg2"/>
                </a:solidFill>
              </a:rPr>
              <a:t>LightGBM</a:t>
            </a:r>
            <a:r>
              <a:rPr sz="1300" b="0" dirty="0">
                <a:solidFill>
                  <a:schemeClr val="bg2"/>
                </a:solidFill>
              </a:rPr>
              <a:t> rare-event classifier</a:t>
            </a:r>
          </a:p>
        </p:txBody>
      </p:sp>
      <p:pic>
        <p:nvPicPr>
          <p:cNvPr id="4" name="Picture 3" descr="lgbm_roc_validation.png"/>
          <p:cNvPicPr>
            <a:picLocks noChangeAspect="1"/>
          </p:cNvPicPr>
          <p:nvPr/>
        </p:nvPicPr>
        <p:blipFill>
          <a:blip r:embed="rId3"/>
          <a:stretch>
            <a:fillRect/>
          </a:stretch>
        </p:blipFill>
        <p:spPr>
          <a:xfrm>
            <a:off x="438912" y="1053958"/>
            <a:ext cx="3925699" cy="2718909"/>
          </a:xfrm>
          <a:prstGeom prst="rect">
            <a:avLst/>
          </a:prstGeom>
        </p:spPr>
      </p:pic>
      <p:pic>
        <p:nvPicPr>
          <p:cNvPr id="5" name="Picture 4" descr="lgbm_roc_test.png"/>
          <p:cNvPicPr>
            <a:picLocks noChangeAspect="1"/>
          </p:cNvPicPr>
          <p:nvPr/>
        </p:nvPicPr>
        <p:blipFill>
          <a:blip r:embed="rId4"/>
          <a:stretch>
            <a:fillRect/>
          </a:stretch>
        </p:blipFill>
        <p:spPr>
          <a:xfrm>
            <a:off x="7007753" y="901108"/>
            <a:ext cx="4251489" cy="2724954"/>
          </a:xfrm>
          <a:prstGeom prst="rect">
            <a:avLst/>
          </a:prstGeom>
        </p:spPr>
      </p:pic>
      <p:pic>
        <p:nvPicPr>
          <p:cNvPr id="6" name="Picture 5" descr="lgbm_pr_validation.png"/>
          <p:cNvPicPr>
            <a:picLocks noChangeAspect="1"/>
          </p:cNvPicPr>
          <p:nvPr/>
        </p:nvPicPr>
        <p:blipFill>
          <a:blip r:embed="rId5"/>
          <a:stretch>
            <a:fillRect/>
          </a:stretch>
        </p:blipFill>
        <p:spPr>
          <a:xfrm>
            <a:off x="438785" y="3739702"/>
            <a:ext cx="3925826" cy="2718909"/>
          </a:xfrm>
          <a:prstGeom prst="rect">
            <a:avLst/>
          </a:prstGeom>
        </p:spPr>
      </p:pic>
      <p:pic>
        <p:nvPicPr>
          <p:cNvPr id="7" name="Picture 6" descr="lgbm_pr_test.png"/>
          <p:cNvPicPr>
            <a:picLocks noChangeAspect="1"/>
          </p:cNvPicPr>
          <p:nvPr/>
        </p:nvPicPr>
        <p:blipFill>
          <a:blip r:embed="rId6"/>
          <a:stretch>
            <a:fillRect/>
          </a:stretch>
        </p:blipFill>
        <p:spPr>
          <a:xfrm>
            <a:off x="7007753" y="3645802"/>
            <a:ext cx="4251490" cy="2724955"/>
          </a:xfrm>
          <a:prstGeom prst="rect">
            <a:avLst/>
          </a:prstGeom>
        </p:spPr>
      </p:pic>
      <p:sp>
        <p:nvSpPr>
          <p:cNvPr id="9" name="TextBox 8"/>
          <p:cNvSpPr txBox="1"/>
          <p:nvPr/>
        </p:nvSpPr>
        <p:spPr>
          <a:xfrm>
            <a:off x="7098384" y="540626"/>
            <a:ext cx="4251489" cy="1061829"/>
          </a:xfrm>
          <a:prstGeom prst="rect">
            <a:avLst/>
          </a:prstGeom>
          <a:noFill/>
        </p:spPr>
        <p:txBody>
          <a:bodyPr wrap="square">
            <a:spAutoFit/>
          </a:bodyPr>
          <a:lstStyle/>
          <a:p>
            <a:pPr>
              <a:defRPr sz="1050">
                <a:solidFill>
                  <a:srgbClr val="1E1E1E"/>
                </a:solidFill>
              </a:defRPr>
            </a:pPr>
            <a:r>
              <a:rPr dirty="0">
                <a:solidFill>
                  <a:srgbClr val="FFC000"/>
                </a:solidFill>
                <a:highlight>
                  <a:srgbClr val="000000"/>
                </a:highlight>
              </a:rPr>
              <a:t>ROC-AUC shows global ranking ability: </a:t>
            </a:r>
            <a:r>
              <a:rPr dirty="0" err="1">
                <a:solidFill>
                  <a:srgbClr val="FFC000"/>
                </a:solidFill>
                <a:highlight>
                  <a:srgbClr val="000000"/>
                </a:highlight>
              </a:rPr>
              <a:t>LightGBM</a:t>
            </a:r>
            <a:r>
              <a:rPr dirty="0">
                <a:solidFill>
                  <a:srgbClr val="FFC000"/>
                </a:solidFill>
                <a:highlight>
                  <a:srgbClr val="000000"/>
                </a:highlight>
              </a:rPr>
              <a:t> ranks attack-like host-hours above benign ones.</a:t>
            </a:r>
            <a:endParaRPr lang="en-US" dirty="0">
              <a:solidFill>
                <a:srgbClr val="FFC000"/>
              </a:solidFill>
              <a:highlight>
                <a:srgbClr val="000000"/>
              </a:highlight>
            </a:endParaRPr>
          </a:p>
          <a:p>
            <a:pPr>
              <a:defRPr sz="1050">
                <a:solidFill>
                  <a:srgbClr val="1E1E1E"/>
                </a:solidFill>
              </a:defRPr>
            </a:pPr>
            <a:endParaRPr lang="en-US" dirty="0"/>
          </a:p>
          <a:p>
            <a:pPr>
              <a:defRPr sz="1050">
                <a:solidFill>
                  <a:srgbClr val="1E1E1E"/>
                </a:solidFill>
              </a:defRPr>
            </a:pPr>
            <a:endParaRPr dirty="0"/>
          </a:p>
          <a:p>
            <a:pPr>
              <a:defRPr sz="1050">
                <a:solidFill>
                  <a:srgbClr val="1E1E1E"/>
                </a:solidFill>
              </a:defRPr>
            </a:pPr>
            <a:endParaRPr dirty="0"/>
          </a:p>
          <a:p>
            <a:pPr>
              <a:defRPr sz="1050">
                <a:solidFill>
                  <a:srgbClr val="1E1E1E"/>
                </a:solidFill>
              </a:defRPr>
            </a:pPr>
            <a:endParaRPr dirty="0"/>
          </a:p>
        </p:txBody>
      </p:sp>
      <p:sp>
        <p:nvSpPr>
          <p:cNvPr id="10" name="TextBox 9"/>
          <p:cNvSpPr txBox="1"/>
          <p:nvPr/>
        </p:nvSpPr>
        <p:spPr>
          <a:xfrm>
            <a:off x="3212184" y="6492681"/>
            <a:ext cx="8246938" cy="276999"/>
          </a:xfrm>
          <a:prstGeom prst="rect">
            <a:avLst/>
          </a:prstGeom>
          <a:noFill/>
        </p:spPr>
        <p:txBody>
          <a:bodyPr wrap="none">
            <a:spAutoFit/>
          </a:bodyPr>
          <a:lstStyle/>
          <a:p>
            <a:r>
              <a:rPr sz="1200" b="1" dirty="0">
                <a:solidFill>
                  <a:srgbClr val="57FB72"/>
                </a:solidFill>
              </a:rPr>
              <a:t>Main takeaway: the model is not a perfect alarm. It is a risk-ranking system that moves rare attack behavior far above random.</a:t>
            </a:r>
          </a:p>
        </p:txBody>
      </p:sp>
      <p:sp>
        <p:nvSpPr>
          <p:cNvPr id="11" name="TextBox 10"/>
          <p:cNvSpPr txBox="1"/>
          <p:nvPr/>
        </p:nvSpPr>
        <p:spPr>
          <a:xfrm>
            <a:off x="240384" y="6560820"/>
            <a:ext cx="5943600" cy="228600"/>
          </a:xfrm>
          <a:prstGeom prst="rect">
            <a:avLst/>
          </a:prstGeom>
          <a:noFill/>
        </p:spPr>
        <p:txBody>
          <a:bodyPr wrap="none">
            <a:spAutoFit/>
          </a:bodyPr>
          <a:lstStyle/>
          <a:p>
            <a:r>
              <a:rPr sz="900" b="0" dirty="0">
                <a:solidFill>
                  <a:srgbClr val="5A5A5A"/>
                </a:solidFill>
              </a:rPr>
              <a:t>Mark Crisci  |  LANL ML Final Project  |  10/14</a:t>
            </a:r>
          </a:p>
        </p:txBody>
      </p:sp>
      <p:sp>
        <p:nvSpPr>
          <p:cNvPr id="12" name="TextBox 11">
            <a:extLst>
              <a:ext uri="{FF2B5EF4-FFF2-40B4-BE49-F238E27FC236}">
                <a16:creationId xmlns:a16="http://schemas.microsoft.com/office/drawing/2014/main" id="{966B0844-54C4-9A9E-5857-55BD8CC91136}"/>
              </a:ext>
            </a:extLst>
          </p:cNvPr>
          <p:cNvSpPr txBox="1"/>
          <p:nvPr/>
        </p:nvSpPr>
        <p:spPr>
          <a:xfrm>
            <a:off x="3689100" y="3313089"/>
            <a:ext cx="2674873" cy="855184"/>
          </a:xfrm>
          <a:prstGeom prst="rect">
            <a:avLst/>
          </a:prstGeom>
          <a:noFill/>
        </p:spPr>
        <p:txBody>
          <a:bodyPr wrap="square" rtlCol="0">
            <a:spAutoFit/>
          </a:bodyPr>
          <a:lstStyle/>
          <a:p>
            <a:r>
              <a:rPr lang="en-US" sz="1200" dirty="0">
                <a:solidFill>
                  <a:srgbClr val="FFC000"/>
                </a:solidFill>
                <a:highlight>
                  <a:srgbClr val="000000"/>
                </a:highlight>
              </a:rPr>
              <a:t>The PR curve looks visually compressed because the random baseline is only 0.000043are positives.</a:t>
            </a:r>
          </a:p>
          <a:p>
            <a:endParaRPr lang="en-US" sz="1200" dirty="0">
              <a:solidFill>
                <a:srgbClr val="FFC000"/>
              </a:solidFill>
              <a:highlight>
                <a:srgbClr val="000000"/>
              </a:highlight>
            </a:endParaRPr>
          </a:p>
        </p:txBody>
      </p:sp>
      <p:sp>
        <p:nvSpPr>
          <p:cNvPr id="13" name="TextBox 12">
            <a:extLst>
              <a:ext uri="{FF2B5EF4-FFF2-40B4-BE49-F238E27FC236}">
                <a16:creationId xmlns:a16="http://schemas.microsoft.com/office/drawing/2014/main" id="{D5D41689-0C24-EA4E-9AEF-E2B90A7CABB0}"/>
              </a:ext>
            </a:extLst>
          </p:cNvPr>
          <p:cNvSpPr txBox="1"/>
          <p:nvPr/>
        </p:nvSpPr>
        <p:spPr>
          <a:xfrm>
            <a:off x="8613214" y="1962937"/>
            <a:ext cx="1443094" cy="3754874"/>
          </a:xfrm>
          <a:prstGeom prst="rect">
            <a:avLst/>
          </a:prstGeom>
          <a:noFill/>
        </p:spPr>
        <p:txBody>
          <a:bodyPr wrap="square" rtlCol="0">
            <a:spAutoFit/>
          </a:bodyPr>
          <a:lstStyle/>
          <a:p>
            <a:r>
              <a:rPr lang="en-US" sz="1400" dirty="0">
                <a:solidFill>
                  <a:srgbClr val="FFC000"/>
                </a:solidFill>
                <a:highlight>
                  <a:srgbClr val="000000"/>
                </a:highlight>
              </a:rPr>
              <a:t> 0.881 </a:t>
            </a: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endParaRPr lang="en-US" sz="1400" dirty="0">
              <a:solidFill>
                <a:srgbClr val="FFC000"/>
              </a:solidFill>
              <a:highlight>
                <a:srgbClr val="000000"/>
              </a:highlight>
            </a:endParaRPr>
          </a:p>
          <a:p>
            <a:r>
              <a:rPr lang="en-US" sz="1400" dirty="0">
                <a:solidFill>
                  <a:schemeClr val="tx2">
                    <a:lumMod val="40000"/>
                    <a:lumOff val="60000"/>
                  </a:schemeClr>
                </a:solidFill>
                <a:highlight>
                  <a:srgbClr val="000000"/>
                </a:highlight>
              </a:rPr>
              <a:t>0.03905.</a:t>
            </a:r>
          </a:p>
          <a:p>
            <a:endParaRPr lang="en-US" sz="1400" dirty="0">
              <a:solidFill>
                <a:srgbClr val="FFC000"/>
              </a:solidFill>
              <a:highlight>
                <a:srgbClr val="000000"/>
              </a:highlight>
            </a:endParaRPr>
          </a:p>
        </p:txBody>
      </p:sp>
      <p:sp>
        <p:nvSpPr>
          <p:cNvPr id="14" name="TextBox 13">
            <a:extLst>
              <a:ext uri="{FF2B5EF4-FFF2-40B4-BE49-F238E27FC236}">
                <a16:creationId xmlns:a16="http://schemas.microsoft.com/office/drawing/2014/main" id="{EF2D1DE3-5B4D-B9D8-FE2C-E31656A4AA31}"/>
              </a:ext>
            </a:extLst>
          </p:cNvPr>
          <p:cNvSpPr txBox="1"/>
          <p:nvPr/>
        </p:nvSpPr>
        <p:spPr>
          <a:xfrm>
            <a:off x="1621410" y="1962937"/>
            <a:ext cx="923827" cy="323165"/>
          </a:xfrm>
          <a:prstGeom prst="rect">
            <a:avLst/>
          </a:prstGeom>
          <a:noFill/>
        </p:spPr>
        <p:txBody>
          <a:bodyPr wrap="square" rtlCol="0">
            <a:spAutoFit/>
          </a:bodyPr>
          <a:lstStyle/>
          <a:p>
            <a:r>
              <a:rPr lang="en-US" sz="1500" dirty="0">
                <a:solidFill>
                  <a:schemeClr val="accent6"/>
                </a:solidFill>
                <a:highlight>
                  <a:srgbClr val="000000"/>
                </a:highlight>
              </a:rPr>
              <a:t>0.838</a:t>
            </a:r>
          </a:p>
        </p:txBody>
      </p:sp>
      <p:sp>
        <p:nvSpPr>
          <p:cNvPr id="15" name="TextBox 14">
            <a:extLst>
              <a:ext uri="{FF2B5EF4-FFF2-40B4-BE49-F238E27FC236}">
                <a16:creationId xmlns:a16="http://schemas.microsoft.com/office/drawing/2014/main" id="{31884EF1-3E63-23D1-5DE2-34D4AA86AF96}"/>
              </a:ext>
            </a:extLst>
          </p:cNvPr>
          <p:cNvSpPr txBox="1"/>
          <p:nvPr/>
        </p:nvSpPr>
        <p:spPr>
          <a:xfrm>
            <a:off x="1432874" y="5556228"/>
            <a:ext cx="1027522" cy="323165"/>
          </a:xfrm>
          <a:prstGeom prst="rect">
            <a:avLst/>
          </a:prstGeom>
          <a:noFill/>
        </p:spPr>
        <p:txBody>
          <a:bodyPr wrap="square" rtlCol="0">
            <a:spAutoFit/>
          </a:bodyPr>
          <a:lstStyle/>
          <a:p>
            <a:r>
              <a:rPr lang="en-US" sz="1500" dirty="0">
                <a:solidFill>
                  <a:schemeClr val="tx2">
                    <a:lumMod val="40000"/>
                    <a:lumOff val="60000"/>
                  </a:schemeClr>
                </a:solidFill>
                <a:highlight>
                  <a:srgbClr val="000000"/>
                </a:highlight>
              </a:rPr>
              <a:t>0.00161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182880"/>
            <a:ext cx="7319953" cy="523220"/>
          </a:xfrm>
          <a:prstGeom prst="rect">
            <a:avLst/>
          </a:prstGeom>
          <a:noFill/>
        </p:spPr>
        <p:txBody>
          <a:bodyPr wrap="none">
            <a:spAutoFit/>
          </a:bodyPr>
          <a:lstStyle/>
          <a:p>
            <a:r>
              <a:rPr sz="2800" b="1" dirty="0">
                <a:solidFill>
                  <a:srgbClr val="57FB72"/>
                </a:solidFill>
                <a:highlight>
                  <a:srgbClr val="000000"/>
                </a:highlight>
              </a:rPr>
              <a:t>Winning Model Diagnostics: Confusion Matrices</a:t>
            </a:r>
          </a:p>
        </p:txBody>
      </p:sp>
      <p:sp>
        <p:nvSpPr>
          <p:cNvPr id="3" name="TextBox 2"/>
          <p:cNvSpPr txBox="1"/>
          <p:nvPr/>
        </p:nvSpPr>
        <p:spPr>
          <a:xfrm>
            <a:off x="438912" y="658368"/>
            <a:ext cx="4512582" cy="292388"/>
          </a:xfrm>
          <a:prstGeom prst="rect">
            <a:avLst/>
          </a:prstGeom>
          <a:noFill/>
        </p:spPr>
        <p:txBody>
          <a:bodyPr wrap="none">
            <a:spAutoFit/>
          </a:bodyPr>
          <a:lstStyle/>
          <a:p>
            <a:r>
              <a:rPr lang="en-US" sz="1300" b="0" dirty="0">
                <a:solidFill>
                  <a:schemeClr val="bg2"/>
                </a:solidFill>
              </a:rPr>
              <a:t>Validation and test operating-point behavior at threshold = 0.10</a:t>
            </a:r>
          </a:p>
        </p:txBody>
      </p:sp>
      <p:pic>
        <p:nvPicPr>
          <p:cNvPr id="4" name="Picture 3" descr="lgbm_confusion_matrix_validation.png"/>
          <p:cNvPicPr>
            <a:picLocks noChangeAspect="1"/>
          </p:cNvPicPr>
          <p:nvPr/>
        </p:nvPicPr>
        <p:blipFill>
          <a:blip r:embed="rId3"/>
          <a:stretch>
            <a:fillRect/>
          </a:stretch>
        </p:blipFill>
        <p:spPr>
          <a:xfrm>
            <a:off x="457200" y="1005840"/>
            <a:ext cx="4709160" cy="4586722"/>
          </a:xfrm>
          <a:prstGeom prst="rect">
            <a:avLst/>
          </a:prstGeom>
        </p:spPr>
      </p:pic>
      <p:pic>
        <p:nvPicPr>
          <p:cNvPr id="5" name="Picture 4" descr="lgbm_confusion_matrix_test.png"/>
          <p:cNvPicPr>
            <a:picLocks noChangeAspect="1"/>
          </p:cNvPicPr>
          <p:nvPr/>
        </p:nvPicPr>
        <p:blipFill>
          <a:blip r:embed="rId4"/>
          <a:stretch>
            <a:fillRect/>
          </a:stretch>
        </p:blipFill>
        <p:spPr>
          <a:xfrm>
            <a:off x="5166360" y="1005840"/>
            <a:ext cx="4709160" cy="4586722"/>
          </a:xfrm>
          <a:prstGeom prst="rect">
            <a:avLst/>
          </a:prstGeom>
        </p:spPr>
      </p:pic>
      <p:sp>
        <p:nvSpPr>
          <p:cNvPr id="6" name="Rectangle 5"/>
          <p:cNvSpPr/>
          <p:nvPr/>
        </p:nvSpPr>
        <p:spPr>
          <a:xfrm>
            <a:off x="9829800" y="1005840"/>
            <a:ext cx="2183858" cy="4586722"/>
          </a:xfrm>
          <a:prstGeom prst="rect">
            <a:avLst/>
          </a:prstGeom>
          <a:solidFill>
            <a:srgbClr val="F5F7FA"/>
          </a:solidFill>
          <a:ln>
            <a:solidFill>
              <a:srgbClr val="DC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749059" y="1017959"/>
            <a:ext cx="2264599" cy="3931846"/>
          </a:xfrm>
          <a:prstGeom prst="rect">
            <a:avLst/>
          </a:prstGeom>
          <a:noFill/>
        </p:spPr>
        <p:txBody>
          <a:bodyPr wrap="square">
            <a:spAutoFit/>
          </a:bodyPr>
          <a:lstStyle/>
          <a:p>
            <a:r>
              <a:rPr sz="1400" b="1" dirty="0">
                <a:solidFill>
                  <a:srgbClr val="0B1F3B"/>
                </a:solidFill>
              </a:rPr>
              <a:t>Operational reading</a:t>
            </a:r>
          </a:p>
          <a:p>
            <a:pPr>
              <a:defRPr sz="1050">
                <a:solidFill>
                  <a:srgbClr val="1E1E1E"/>
                </a:solidFill>
              </a:defRPr>
            </a:pPr>
            <a:endParaRPr lang="en-US" dirty="0"/>
          </a:p>
          <a:p>
            <a:pPr>
              <a:defRPr sz="1050">
                <a:solidFill>
                  <a:srgbClr val="1E1E1E"/>
                </a:solidFill>
              </a:defRPr>
            </a:pPr>
            <a:endParaRPr lang="en-US" dirty="0"/>
          </a:p>
          <a:p>
            <a:pPr>
              <a:defRPr sz="1050">
                <a:solidFill>
                  <a:srgbClr val="1E1E1E"/>
                </a:solidFill>
              </a:defRPr>
            </a:pPr>
            <a:r>
              <a:rPr dirty="0"/>
              <a:t>Validation: </a:t>
            </a:r>
            <a:endParaRPr lang="en-US" dirty="0"/>
          </a:p>
          <a:p>
            <a:pPr>
              <a:defRPr sz="1050">
                <a:solidFill>
                  <a:srgbClr val="1E1E1E"/>
                </a:solidFill>
              </a:defRPr>
            </a:pPr>
            <a:r>
              <a:rPr b="1" i="1" dirty="0"/>
              <a:t>TP = 23</a:t>
            </a:r>
            <a:r>
              <a:rPr lang="en-US" b="1" i="1" dirty="0"/>
              <a:t> </a:t>
            </a:r>
          </a:p>
          <a:p>
            <a:pPr>
              <a:defRPr sz="1050">
                <a:solidFill>
                  <a:srgbClr val="1E1E1E"/>
                </a:solidFill>
              </a:defRPr>
            </a:pPr>
            <a:r>
              <a:rPr b="1" i="1" dirty="0"/>
              <a:t>FN = 96</a:t>
            </a:r>
            <a:endParaRPr lang="en-US" b="1" i="1" dirty="0"/>
          </a:p>
          <a:p>
            <a:pPr>
              <a:defRPr sz="1050">
                <a:solidFill>
                  <a:srgbClr val="1E1E1E"/>
                </a:solidFill>
              </a:defRPr>
            </a:pPr>
            <a:r>
              <a:rPr b="1" i="1" dirty="0"/>
              <a:t>FP = 57,773</a:t>
            </a:r>
            <a:endParaRPr lang="en-US" b="1" i="1" dirty="0"/>
          </a:p>
          <a:p>
            <a:pPr>
              <a:defRPr sz="1050">
                <a:solidFill>
                  <a:srgbClr val="1E1E1E"/>
                </a:solidFill>
              </a:defRPr>
            </a:pPr>
            <a:endParaRPr lang="en-US" dirty="0"/>
          </a:p>
          <a:p>
            <a:pPr>
              <a:defRPr sz="1050">
                <a:solidFill>
                  <a:srgbClr val="1E1E1E"/>
                </a:solidFill>
              </a:defRPr>
            </a:pPr>
            <a:endParaRPr dirty="0"/>
          </a:p>
          <a:p>
            <a:pPr>
              <a:defRPr sz="1050">
                <a:solidFill>
                  <a:srgbClr val="1E1E1E"/>
                </a:solidFill>
              </a:defRPr>
            </a:pPr>
            <a:r>
              <a:rPr dirty="0"/>
              <a:t>Test: </a:t>
            </a:r>
            <a:endParaRPr lang="en-US" dirty="0"/>
          </a:p>
          <a:p>
            <a:pPr>
              <a:defRPr sz="1050">
                <a:solidFill>
                  <a:srgbClr val="1E1E1E"/>
                </a:solidFill>
              </a:defRPr>
            </a:pPr>
            <a:r>
              <a:rPr b="1" i="1" dirty="0"/>
              <a:t>TP = 28 </a:t>
            </a:r>
            <a:endParaRPr lang="en-US" b="1" i="1" dirty="0"/>
          </a:p>
          <a:p>
            <a:pPr>
              <a:defRPr sz="1050">
                <a:solidFill>
                  <a:srgbClr val="1E1E1E"/>
                </a:solidFill>
              </a:defRPr>
            </a:pPr>
            <a:r>
              <a:rPr b="1" i="1" dirty="0"/>
              <a:t>FN = 91</a:t>
            </a:r>
            <a:endParaRPr lang="en-US" b="1" i="1" dirty="0"/>
          </a:p>
          <a:p>
            <a:pPr>
              <a:defRPr sz="1050">
                <a:solidFill>
                  <a:srgbClr val="1E1E1E"/>
                </a:solidFill>
              </a:defRPr>
            </a:pPr>
            <a:r>
              <a:rPr b="1" i="1" dirty="0"/>
              <a:t>FP = 57,53</a:t>
            </a:r>
            <a:r>
              <a:rPr lang="en-US" b="1" i="1" dirty="0"/>
              <a:t>5</a:t>
            </a:r>
          </a:p>
          <a:p>
            <a:pPr>
              <a:defRPr sz="1050">
                <a:solidFill>
                  <a:srgbClr val="1E1E1E"/>
                </a:solidFill>
              </a:defRPr>
            </a:pPr>
            <a:endParaRPr lang="en-US" dirty="0"/>
          </a:p>
          <a:p>
            <a:pPr>
              <a:defRPr sz="1050">
                <a:solidFill>
                  <a:srgbClr val="1E1E1E"/>
                </a:solidFill>
              </a:defRPr>
            </a:pPr>
            <a:endParaRPr dirty="0"/>
          </a:p>
          <a:p>
            <a:pPr>
              <a:defRPr sz="1050">
                <a:solidFill>
                  <a:srgbClr val="1E1E1E"/>
                </a:solidFill>
              </a:defRPr>
            </a:pPr>
            <a:r>
              <a:rPr i="1" dirty="0"/>
              <a:t>At threshold 0.10, </a:t>
            </a:r>
            <a:endParaRPr lang="en-US" i="1" dirty="0"/>
          </a:p>
          <a:p>
            <a:pPr>
              <a:defRPr sz="1050">
                <a:solidFill>
                  <a:srgbClr val="1E1E1E"/>
                </a:solidFill>
              </a:defRPr>
            </a:pPr>
            <a:r>
              <a:rPr i="1" dirty="0"/>
              <a:t>the test model catches 28 of 119 attacks, about 23.5% recall.</a:t>
            </a:r>
            <a:endParaRPr lang="en-US" i="1" dirty="0"/>
          </a:p>
          <a:p>
            <a:pPr>
              <a:defRPr sz="1050">
                <a:solidFill>
                  <a:srgbClr val="1E1E1E"/>
                </a:solidFill>
              </a:defRPr>
            </a:pPr>
            <a:endParaRPr lang="en-US" dirty="0"/>
          </a:p>
          <a:p>
            <a:pPr>
              <a:defRPr sz="1050">
                <a:solidFill>
                  <a:srgbClr val="1E1E1E"/>
                </a:solidFill>
              </a:defRPr>
            </a:pPr>
            <a:r>
              <a:rPr lang="en-US" dirty="0"/>
              <a:t>Th</a:t>
            </a:r>
            <a:r>
              <a:rPr dirty="0"/>
              <a:t>e false positives are the analyst workload. </a:t>
            </a:r>
            <a:r>
              <a:rPr sz="1200" b="1" i="1" dirty="0"/>
              <a:t>Raising the threshold reduces noise but misses more attacks.</a:t>
            </a:r>
          </a:p>
        </p:txBody>
      </p:sp>
      <p:sp>
        <p:nvSpPr>
          <p:cNvPr id="8" name="TextBox 7"/>
          <p:cNvSpPr txBox="1"/>
          <p:nvPr/>
        </p:nvSpPr>
        <p:spPr>
          <a:xfrm>
            <a:off x="548640" y="6126480"/>
            <a:ext cx="8648521" cy="261610"/>
          </a:xfrm>
          <a:prstGeom prst="rect">
            <a:avLst/>
          </a:prstGeom>
          <a:noFill/>
        </p:spPr>
        <p:txBody>
          <a:bodyPr wrap="none">
            <a:spAutoFit/>
          </a:bodyPr>
          <a:lstStyle/>
          <a:p>
            <a:r>
              <a:rPr sz="1100" b="1" dirty="0">
                <a:solidFill>
                  <a:srgbClr val="57FB72"/>
                </a:solidFill>
              </a:rPr>
              <a:t>This is why the threshold is a business decision: lower threshold = more recall, more alerts; higher threshold = fewer alerts, more missed attacks.</a:t>
            </a:r>
          </a:p>
        </p:txBody>
      </p:sp>
      <p:sp>
        <p:nvSpPr>
          <p:cNvPr id="9" name="TextBox 8"/>
          <p:cNvSpPr txBox="1"/>
          <p:nvPr/>
        </p:nvSpPr>
        <p:spPr>
          <a:xfrm>
            <a:off x="457200" y="6446520"/>
            <a:ext cx="5943600" cy="228600"/>
          </a:xfrm>
          <a:prstGeom prst="rect">
            <a:avLst/>
          </a:prstGeom>
          <a:noFill/>
        </p:spPr>
        <p:txBody>
          <a:bodyPr wrap="none">
            <a:spAutoFit/>
          </a:bodyPr>
          <a:lstStyle/>
          <a:p>
            <a:r>
              <a:rPr sz="900" b="0" dirty="0">
                <a:solidFill>
                  <a:srgbClr val="5A5A5A"/>
                </a:solidFill>
              </a:rPr>
              <a:t>Mark Crisci  |  LANL ML Final Project  |  11/14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Model Interpretation — TreeSHAP + Counterfactuals</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Exact per-feature contributions — not an approximation</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10/12</a:t>
            </a:r>
          </a:p>
        </p:txBody>
      </p:sp>
      <p:sp>
        <p:nvSpPr>
          <p:cNvPr id="6" name="Rectangle 5"/>
          <p:cNvSpPr/>
          <p:nvPr/>
        </p:nvSpPr>
        <p:spPr>
          <a:xfrm>
            <a:off x="365760" y="1417320"/>
            <a:ext cx="5577840" cy="50292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08760"/>
            <a:ext cx="5212080" cy="347472"/>
          </a:xfrm>
          <a:prstGeom prst="rect">
            <a:avLst/>
          </a:prstGeom>
          <a:noFill/>
        </p:spPr>
        <p:txBody>
          <a:bodyPr wrap="square">
            <a:spAutoFit/>
          </a:bodyPr>
          <a:lstStyle/>
          <a:p>
            <a:pPr algn="l"/>
            <a:r>
              <a:rPr sz="1500" b="1">
                <a:solidFill>
                  <a:srgbClr val="00D48A"/>
                </a:solidFill>
                <a:latin typeface="Calibri"/>
              </a:rPr>
              <a:t>Why did the model flag this host?</a:t>
            </a:r>
          </a:p>
        </p:txBody>
      </p:sp>
      <p:sp>
        <p:nvSpPr>
          <p:cNvPr id="8" name="Rectangle 7"/>
          <p:cNvSpPr/>
          <p:nvPr/>
        </p:nvSpPr>
        <p:spPr>
          <a:xfrm>
            <a:off x="548640" y="1965960"/>
            <a:ext cx="2304288"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29000" y="1965960"/>
            <a:ext cx="1828800" cy="274320"/>
          </a:xfrm>
          <a:prstGeom prst="rect">
            <a:avLst/>
          </a:prstGeom>
          <a:noFill/>
        </p:spPr>
        <p:txBody>
          <a:bodyPr wrap="square">
            <a:spAutoFit/>
          </a:bodyPr>
          <a:lstStyle/>
          <a:p>
            <a:pPr algn="l"/>
            <a:r>
              <a:rPr sz="1100" b="0">
                <a:solidFill>
                  <a:srgbClr val="FFFFFF"/>
                </a:solidFill>
                <a:latin typeface="Calibri"/>
              </a:rPr>
              <a:t>flows_outbound_count</a:t>
            </a:r>
          </a:p>
        </p:txBody>
      </p:sp>
      <p:sp>
        <p:nvSpPr>
          <p:cNvPr id="10" name="TextBox 9"/>
          <p:cNvSpPr txBox="1"/>
          <p:nvPr/>
        </p:nvSpPr>
        <p:spPr>
          <a:xfrm>
            <a:off x="5349240" y="1965960"/>
            <a:ext cx="548640" cy="274320"/>
          </a:xfrm>
          <a:prstGeom prst="rect">
            <a:avLst/>
          </a:prstGeom>
          <a:noFill/>
        </p:spPr>
        <p:txBody>
          <a:bodyPr wrap="square">
            <a:spAutoFit/>
          </a:bodyPr>
          <a:lstStyle/>
          <a:p>
            <a:pPr algn="l"/>
            <a:r>
              <a:rPr sz="1100" b="1">
                <a:solidFill>
                  <a:srgbClr val="FF4D4D"/>
                </a:solidFill>
                <a:latin typeface="Calibri"/>
              </a:rPr>
              <a:t>+0.84</a:t>
            </a:r>
          </a:p>
        </p:txBody>
      </p:sp>
      <p:sp>
        <p:nvSpPr>
          <p:cNvPr id="11" name="Rectangle 10"/>
          <p:cNvSpPr/>
          <p:nvPr/>
        </p:nvSpPr>
        <p:spPr>
          <a:xfrm>
            <a:off x="548640" y="2313432"/>
            <a:ext cx="1673352"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29000" y="2313432"/>
            <a:ext cx="1828800" cy="274320"/>
          </a:xfrm>
          <a:prstGeom prst="rect">
            <a:avLst/>
          </a:prstGeom>
          <a:noFill/>
        </p:spPr>
        <p:txBody>
          <a:bodyPr wrap="square">
            <a:spAutoFit/>
          </a:bodyPr>
          <a:lstStyle/>
          <a:p>
            <a:pPr algn="l"/>
            <a:r>
              <a:rPr sz="1100" b="0">
                <a:solidFill>
                  <a:srgbClr val="FFFFFF"/>
                </a:solidFill>
                <a:latin typeface="Calibri"/>
              </a:rPr>
              <a:t>auth_unique_destinations</a:t>
            </a:r>
          </a:p>
        </p:txBody>
      </p:sp>
      <p:sp>
        <p:nvSpPr>
          <p:cNvPr id="13" name="TextBox 12"/>
          <p:cNvSpPr txBox="1"/>
          <p:nvPr/>
        </p:nvSpPr>
        <p:spPr>
          <a:xfrm>
            <a:off x="5349240" y="2313432"/>
            <a:ext cx="548640" cy="274320"/>
          </a:xfrm>
          <a:prstGeom prst="rect">
            <a:avLst/>
          </a:prstGeom>
          <a:noFill/>
        </p:spPr>
        <p:txBody>
          <a:bodyPr wrap="square">
            <a:spAutoFit/>
          </a:bodyPr>
          <a:lstStyle/>
          <a:p>
            <a:pPr algn="l"/>
            <a:r>
              <a:rPr sz="1100" b="1">
                <a:solidFill>
                  <a:srgbClr val="FF4D4D"/>
                </a:solidFill>
                <a:latin typeface="Calibri"/>
              </a:rPr>
              <a:t>+0.61</a:t>
            </a:r>
          </a:p>
        </p:txBody>
      </p:sp>
      <p:sp>
        <p:nvSpPr>
          <p:cNvPr id="14" name="Rectangle 13"/>
          <p:cNvSpPr/>
          <p:nvPr/>
        </p:nvSpPr>
        <p:spPr>
          <a:xfrm>
            <a:off x="548640" y="2660904"/>
            <a:ext cx="1152144"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29000" y="2660904"/>
            <a:ext cx="1828800" cy="274320"/>
          </a:xfrm>
          <a:prstGeom prst="rect">
            <a:avLst/>
          </a:prstGeom>
          <a:noFill/>
        </p:spPr>
        <p:txBody>
          <a:bodyPr wrap="square">
            <a:spAutoFit/>
          </a:bodyPr>
          <a:lstStyle/>
          <a:p>
            <a:pPr algn="l"/>
            <a:r>
              <a:rPr sz="1100" b="0">
                <a:solidFill>
                  <a:srgbClr val="FFFFFF"/>
                </a:solidFill>
                <a:latin typeface="Calibri"/>
              </a:rPr>
              <a:t>auth_total</a:t>
            </a:r>
          </a:p>
        </p:txBody>
      </p:sp>
      <p:sp>
        <p:nvSpPr>
          <p:cNvPr id="16" name="TextBox 15"/>
          <p:cNvSpPr txBox="1"/>
          <p:nvPr/>
        </p:nvSpPr>
        <p:spPr>
          <a:xfrm>
            <a:off x="5349240" y="2660904"/>
            <a:ext cx="548640" cy="274320"/>
          </a:xfrm>
          <a:prstGeom prst="rect">
            <a:avLst/>
          </a:prstGeom>
          <a:noFill/>
        </p:spPr>
        <p:txBody>
          <a:bodyPr wrap="square">
            <a:spAutoFit/>
          </a:bodyPr>
          <a:lstStyle/>
          <a:p>
            <a:pPr algn="l"/>
            <a:r>
              <a:rPr sz="1100" b="1">
                <a:solidFill>
                  <a:srgbClr val="FF4D4D"/>
                </a:solidFill>
                <a:latin typeface="Calibri"/>
              </a:rPr>
              <a:t>+0.42</a:t>
            </a:r>
          </a:p>
        </p:txBody>
      </p:sp>
      <p:sp>
        <p:nvSpPr>
          <p:cNvPr id="17" name="Rectangle 16"/>
          <p:cNvSpPr/>
          <p:nvPr/>
        </p:nvSpPr>
        <p:spPr>
          <a:xfrm>
            <a:off x="548640" y="3008376"/>
            <a:ext cx="795528" cy="2743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29000" y="3008376"/>
            <a:ext cx="1828800" cy="274320"/>
          </a:xfrm>
          <a:prstGeom prst="rect">
            <a:avLst/>
          </a:prstGeom>
          <a:noFill/>
        </p:spPr>
        <p:txBody>
          <a:bodyPr wrap="square">
            <a:spAutoFit/>
          </a:bodyPr>
          <a:lstStyle/>
          <a:p>
            <a:pPr algn="l"/>
            <a:r>
              <a:rPr sz="1100" b="0">
                <a:solidFill>
                  <a:srgbClr val="FFFFFF"/>
                </a:solidFill>
                <a:latin typeface="Calibri"/>
              </a:rPr>
              <a:t>flows_bytes_total</a:t>
            </a:r>
          </a:p>
        </p:txBody>
      </p:sp>
      <p:sp>
        <p:nvSpPr>
          <p:cNvPr id="19" name="TextBox 18"/>
          <p:cNvSpPr txBox="1"/>
          <p:nvPr/>
        </p:nvSpPr>
        <p:spPr>
          <a:xfrm>
            <a:off x="5349240" y="3008376"/>
            <a:ext cx="548640" cy="274320"/>
          </a:xfrm>
          <a:prstGeom prst="rect">
            <a:avLst/>
          </a:prstGeom>
          <a:noFill/>
        </p:spPr>
        <p:txBody>
          <a:bodyPr wrap="square">
            <a:spAutoFit/>
          </a:bodyPr>
          <a:lstStyle/>
          <a:p>
            <a:pPr algn="l"/>
            <a:r>
              <a:rPr sz="1100" b="1">
                <a:solidFill>
                  <a:srgbClr val="FF4D4D"/>
                </a:solidFill>
                <a:latin typeface="Calibri"/>
              </a:rPr>
              <a:t>+0.29</a:t>
            </a:r>
          </a:p>
        </p:txBody>
      </p:sp>
      <p:sp>
        <p:nvSpPr>
          <p:cNvPr id="20" name="Rectangle 19"/>
          <p:cNvSpPr/>
          <p:nvPr/>
        </p:nvSpPr>
        <p:spPr>
          <a:xfrm>
            <a:off x="2798064" y="3355848"/>
            <a:ext cx="493776" cy="27432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29000" y="3355848"/>
            <a:ext cx="1828800" cy="274320"/>
          </a:xfrm>
          <a:prstGeom prst="rect">
            <a:avLst/>
          </a:prstGeom>
          <a:noFill/>
        </p:spPr>
        <p:txBody>
          <a:bodyPr wrap="square">
            <a:spAutoFit/>
          </a:bodyPr>
          <a:lstStyle/>
          <a:p>
            <a:pPr algn="l"/>
            <a:r>
              <a:rPr sz="1100" b="0">
                <a:solidFill>
                  <a:srgbClr val="FFFFFF"/>
                </a:solidFill>
                <a:latin typeface="Calibri"/>
              </a:rPr>
              <a:t>dns_lookup_count</a:t>
            </a:r>
          </a:p>
        </p:txBody>
      </p:sp>
      <p:sp>
        <p:nvSpPr>
          <p:cNvPr id="22" name="TextBox 21"/>
          <p:cNvSpPr txBox="1"/>
          <p:nvPr/>
        </p:nvSpPr>
        <p:spPr>
          <a:xfrm>
            <a:off x="5349240" y="3355848"/>
            <a:ext cx="548640" cy="274320"/>
          </a:xfrm>
          <a:prstGeom prst="rect">
            <a:avLst/>
          </a:prstGeom>
          <a:noFill/>
        </p:spPr>
        <p:txBody>
          <a:bodyPr wrap="square">
            <a:spAutoFit/>
          </a:bodyPr>
          <a:lstStyle/>
          <a:p>
            <a:pPr algn="l"/>
            <a:r>
              <a:rPr sz="1100" b="1">
                <a:solidFill>
                  <a:srgbClr val="00D48A"/>
                </a:solidFill>
                <a:latin typeface="Calibri"/>
              </a:rPr>
              <a:t>-0.18</a:t>
            </a:r>
          </a:p>
        </p:txBody>
      </p:sp>
      <p:sp>
        <p:nvSpPr>
          <p:cNvPr id="23" name="Rectangle 22"/>
          <p:cNvSpPr/>
          <p:nvPr/>
        </p:nvSpPr>
        <p:spPr>
          <a:xfrm>
            <a:off x="2441448" y="3703320"/>
            <a:ext cx="850392" cy="27432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429000" y="3703320"/>
            <a:ext cx="1828800" cy="274320"/>
          </a:xfrm>
          <a:prstGeom prst="rect">
            <a:avLst/>
          </a:prstGeom>
          <a:noFill/>
        </p:spPr>
        <p:txBody>
          <a:bodyPr wrap="square">
            <a:spAutoFit/>
          </a:bodyPr>
          <a:lstStyle/>
          <a:p>
            <a:pPr algn="l"/>
            <a:r>
              <a:rPr sz="1100" b="0">
                <a:solidFill>
                  <a:srgbClr val="FFFFFF"/>
                </a:solidFill>
                <a:latin typeface="Calibri"/>
              </a:rPr>
              <a:t>proc_unique_processes</a:t>
            </a:r>
          </a:p>
        </p:txBody>
      </p:sp>
      <p:sp>
        <p:nvSpPr>
          <p:cNvPr id="25" name="TextBox 24"/>
          <p:cNvSpPr txBox="1"/>
          <p:nvPr/>
        </p:nvSpPr>
        <p:spPr>
          <a:xfrm>
            <a:off x="5349240" y="3703320"/>
            <a:ext cx="548640" cy="274320"/>
          </a:xfrm>
          <a:prstGeom prst="rect">
            <a:avLst/>
          </a:prstGeom>
          <a:noFill/>
        </p:spPr>
        <p:txBody>
          <a:bodyPr wrap="square">
            <a:spAutoFit/>
          </a:bodyPr>
          <a:lstStyle/>
          <a:p>
            <a:pPr algn="l"/>
            <a:r>
              <a:rPr sz="1100" b="1">
                <a:solidFill>
                  <a:srgbClr val="00D48A"/>
                </a:solidFill>
                <a:latin typeface="Calibri"/>
              </a:rPr>
              <a:t>-0.31</a:t>
            </a:r>
          </a:p>
        </p:txBody>
      </p:sp>
      <p:sp>
        <p:nvSpPr>
          <p:cNvPr id="26" name="Rectangle 25"/>
          <p:cNvSpPr/>
          <p:nvPr/>
        </p:nvSpPr>
        <p:spPr>
          <a:xfrm>
            <a:off x="2962656" y="4050792"/>
            <a:ext cx="329184" cy="274320"/>
          </a:xfrm>
          <a:prstGeom prst="rect">
            <a:avLst/>
          </a:prstGeom>
          <a:solidFill>
            <a:srgbClr val="00D4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29000" y="4050792"/>
            <a:ext cx="1828800" cy="274320"/>
          </a:xfrm>
          <a:prstGeom prst="rect">
            <a:avLst/>
          </a:prstGeom>
          <a:noFill/>
        </p:spPr>
        <p:txBody>
          <a:bodyPr wrap="square">
            <a:spAutoFit/>
          </a:bodyPr>
          <a:lstStyle/>
          <a:p>
            <a:pPr algn="l"/>
            <a:r>
              <a:rPr sz="1100" b="0">
                <a:solidFill>
                  <a:srgbClr val="FFFFFF"/>
                </a:solidFill>
                <a:latin typeface="Calibri"/>
              </a:rPr>
              <a:t>auth_failure_ratio</a:t>
            </a:r>
          </a:p>
        </p:txBody>
      </p:sp>
      <p:sp>
        <p:nvSpPr>
          <p:cNvPr id="28" name="TextBox 27"/>
          <p:cNvSpPr txBox="1"/>
          <p:nvPr/>
        </p:nvSpPr>
        <p:spPr>
          <a:xfrm>
            <a:off x="5349240" y="4050792"/>
            <a:ext cx="548640" cy="274320"/>
          </a:xfrm>
          <a:prstGeom prst="rect">
            <a:avLst/>
          </a:prstGeom>
          <a:noFill/>
        </p:spPr>
        <p:txBody>
          <a:bodyPr wrap="square">
            <a:spAutoFit/>
          </a:bodyPr>
          <a:lstStyle/>
          <a:p>
            <a:pPr algn="l"/>
            <a:r>
              <a:rPr sz="1100" b="1">
                <a:solidFill>
                  <a:srgbClr val="00D48A"/>
                </a:solidFill>
                <a:latin typeface="Calibri"/>
              </a:rPr>
              <a:t>-0.12</a:t>
            </a:r>
          </a:p>
        </p:txBody>
      </p:sp>
      <p:sp>
        <p:nvSpPr>
          <p:cNvPr id="29" name="TextBox 28"/>
          <p:cNvSpPr txBox="1"/>
          <p:nvPr/>
        </p:nvSpPr>
        <p:spPr>
          <a:xfrm>
            <a:off x="548640" y="4526280"/>
            <a:ext cx="5212080" cy="320040"/>
          </a:xfrm>
          <a:prstGeom prst="rect">
            <a:avLst/>
          </a:prstGeom>
          <a:noFill/>
        </p:spPr>
        <p:txBody>
          <a:bodyPr wrap="square">
            <a:spAutoFit/>
          </a:bodyPr>
          <a:lstStyle/>
          <a:p>
            <a:pPr algn="l"/>
            <a:r>
              <a:rPr sz="1100" b="0">
                <a:solidFill>
                  <a:srgbClr val="9CA3AF"/>
                </a:solidFill>
                <a:latin typeface="Calibri"/>
              </a:rPr>
              <a:t>Red = pushes risk UP  |  Green = pushes risk DOWN  |  Length = magnitude (log-odds)</a:t>
            </a:r>
          </a:p>
        </p:txBody>
      </p:sp>
      <p:sp>
        <p:nvSpPr>
          <p:cNvPr id="30" name="TextBox 29"/>
          <p:cNvSpPr txBox="1"/>
          <p:nvPr/>
        </p:nvSpPr>
        <p:spPr>
          <a:xfrm>
            <a:off x="548640" y="4937760"/>
            <a:ext cx="5212080" cy="457200"/>
          </a:xfrm>
          <a:prstGeom prst="rect">
            <a:avLst/>
          </a:prstGeom>
          <a:noFill/>
        </p:spPr>
        <p:txBody>
          <a:bodyPr wrap="square">
            <a:spAutoFit/>
          </a:bodyPr>
          <a:lstStyle/>
          <a:p>
            <a:pPr algn="l"/>
            <a:r>
              <a:rPr sz="1200" b="0">
                <a:solidFill>
                  <a:srgbClr val="9CA3AF"/>
                </a:solidFill>
                <a:latin typeface="Calibri"/>
              </a:rPr>
              <a:t>TreeSHAP: exact contributions from LightGBM's booster internals.
Not a shap library approximation. Reproducible and fast.</a:t>
            </a:r>
          </a:p>
        </p:txBody>
      </p:sp>
      <p:sp>
        <p:nvSpPr>
          <p:cNvPr id="31" name="Rectangle 30"/>
          <p:cNvSpPr/>
          <p:nvPr/>
        </p:nvSpPr>
        <p:spPr>
          <a:xfrm>
            <a:off x="6217920" y="1417320"/>
            <a:ext cx="5577840" cy="21945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0" y="1508760"/>
            <a:ext cx="5212080" cy="347472"/>
          </a:xfrm>
          <a:prstGeom prst="rect">
            <a:avLst/>
          </a:prstGeom>
          <a:noFill/>
        </p:spPr>
        <p:txBody>
          <a:bodyPr wrap="square">
            <a:spAutoFit/>
          </a:bodyPr>
          <a:lstStyle/>
          <a:p>
            <a:pPr algn="l"/>
            <a:r>
              <a:rPr sz="1500" b="1">
                <a:solidFill>
                  <a:srgbClr val="FFB800"/>
                </a:solidFill>
                <a:latin typeface="Calibri"/>
              </a:rPr>
              <a:t>Counterfactual Recommender</a:t>
            </a:r>
          </a:p>
        </p:txBody>
      </p:sp>
      <p:sp>
        <p:nvSpPr>
          <p:cNvPr id="33" name="TextBox 32"/>
          <p:cNvSpPr txBox="1"/>
          <p:nvPr/>
        </p:nvSpPr>
        <p:spPr>
          <a:xfrm>
            <a:off x="6400800" y="1920240"/>
            <a:ext cx="5212080" cy="1554480"/>
          </a:xfrm>
          <a:prstGeom prst="rect">
            <a:avLst/>
          </a:prstGeom>
          <a:noFill/>
        </p:spPr>
        <p:txBody>
          <a:bodyPr wrap="square">
            <a:spAutoFit/>
          </a:bodyPr>
          <a:lstStyle/>
          <a:p>
            <a:pPr algn="l"/>
            <a:r>
              <a:rPr sz="1200" b="0">
                <a:solidFill>
                  <a:srgbClr val="9CA3AF"/>
                </a:solidFill>
                <a:latin typeface="Calibri"/>
              </a:rPr>
              <a:t>"How to lower this risk below 20%:"
auth_outbound_count        delta = -2
flows_outbound_count       delta = -4
auth_unique_destinations   delta = -1
Smallest single-feature change that crosses the decision boundary.
Computed by the LR sidecar (closed-form). Actionable for an analyst.</a:t>
            </a:r>
          </a:p>
        </p:txBody>
      </p:sp>
      <p:sp>
        <p:nvSpPr>
          <p:cNvPr id="34" name="Rectangle 33"/>
          <p:cNvSpPr/>
          <p:nvPr/>
        </p:nvSpPr>
        <p:spPr>
          <a:xfrm>
            <a:off x="6217920" y="3749039"/>
            <a:ext cx="5577840" cy="26974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0" y="3840480"/>
            <a:ext cx="5212080" cy="347472"/>
          </a:xfrm>
          <a:prstGeom prst="rect">
            <a:avLst/>
          </a:prstGeom>
          <a:noFill/>
        </p:spPr>
        <p:txBody>
          <a:bodyPr wrap="square">
            <a:spAutoFit/>
          </a:bodyPr>
          <a:lstStyle/>
          <a:p>
            <a:pPr algn="l"/>
            <a:r>
              <a:rPr sz="1500" b="1">
                <a:solidFill>
                  <a:srgbClr val="00D48A"/>
                </a:solidFill>
                <a:latin typeface="Calibri"/>
              </a:rPr>
              <a:t>Cost-Optimal Threshold</a:t>
            </a:r>
          </a:p>
        </p:txBody>
      </p:sp>
      <p:sp>
        <p:nvSpPr>
          <p:cNvPr id="36" name="TextBox 35"/>
          <p:cNvSpPr txBox="1"/>
          <p:nvPr/>
        </p:nvSpPr>
        <p:spPr>
          <a:xfrm>
            <a:off x="6400800" y="4251960"/>
            <a:ext cx="5212080" cy="2011680"/>
          </a:xfrm>
          <a:prstGeom prst="rect">
            <a:avLst/>
          </a:prstGeom>
          <a:noFill/>
        </p:spPr>
        <p:txBody>
          <a:bodyPr wrap="square">
            <a:spAutoFit/>
          </a:bodyPr>
          <a:lstStyle/>
          <a:p>
            <a:pPr algn="l"/>
            <a:r>
              <a:rPr sz="1200" b="0">
                <a:solidFill>
                  <a:srgbClr val="9CA3AF"/>
                </a:solidFill>
                <a:latin typeface="Calibri"/>
              </a:rPr>
              <a:t>Input:
  cost_fp = $100   (analyst investigation time)
  cost_fn = $100,000   (breach cost)
Output: threshold = 0.10
Minimizes: FP_count × cost_fp + FN_count × cost_fn
on the validation set. NOT hardcoded to 0.5.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Why Threshold 0.5 is Wrong — and How to Fix It</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The threshold is a business decision, not a hyperparameter</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11/12</a:t>
            </a:r>
          </a:p>
        </p:txBody>
      </p:sp>
      <p:sp>
        <p:nvSpPr>
          <p:cNvPr id="6" name="Rectangle 5"/>
          <p:cNvSpPr/>
          <p:nvPr/>
        </p:nvSpPr>
        <p:spPr>
          <a:xfrm>
            <a:off x="365760" y="1417320"/>
            <a:ext cx="5394960" cy="2926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08760"/>
            <a:ext cx="5029200" cy="347472"/>
          </a:xfrm>
          <a:prstGeom prst="rect">
            <a:avLst/>
          </a:prstGeom>
          <a:noFill/>
        </p:spPr>
        <p:txBody>
          <a:bodyPr wrap="square">
            <a:spAutoFit/>
          </a:bodyPr>
          <a:lstStyle/>
          <a:p>
            <a:pPr algn="l"/>
            <a:r>
              <a:rPr sz="1500" b="1">
                <a:solidFill>
                  <a:srgbClr val="FF4D4D"/>
                </a:solidFill>
                <a:latin typeface="Calibri"/>
              </a:rPr>
              <a:t>At threshold = 0.5  (sklearn default)</a:t>
            </a:r>
          </a:p>
        </p:txBody>
      </p:sp>
      <p:sp>
        <p:nvSpPr>
          <p:cNvPr id="8" name="TextBox 7"/>
          <p:cNvSpPr txBox="1"/>
          <p:nvPr/>
        </p:nvSpPr>
        <p:spPr>
          <a:xfrm>
            <a:off x="548640" y="1920240"/>
            <a:ext cx="5029200" cy="2286000"/>
          </a:xfrm>
          <a:prstGeom prst="rect">
            <a:avLst/>
          </a:prstGeom>
          <a:noFill/>
        </p:spPr>
        <p:txBody>
          <a:bodyPr wrap="square">
            <a:spAutoFit/>
          </a:bodyPr>
          <a:lstStyle/>
          <a:p>
            <a:pPr algn="l"/>
            <a:r>
              <a:rPr sz="1400" b="0">
                <a:solidFill>
                  <a:srgbClr val="9CA3AF"/>
                </a:solidFill>
                <a:latin typeface="Calibri"/>
              </a:rPr>
              <a:t>Predicted positives:  ≈ 0
True positives:        ≈ 0
False positives:       ≈ 0
False negatives:       ≈ ALL 119 test attacks
The model looks broken. It isn't.
It ranks positives correctly — 0.5 is just too high
a cutoff for a 0.004% positive rate.</a:t>
            </a:r>
          </a:p>
        </p:txBody>
      </p:sp>
      <p:sp>
        <p:nvSpPr>
          <p:cNvPr id="9" name="Rectangle 8"/>
          <p:cNvSpPr/>
          <p:nvPr/>
        </p:nvSpPr>
        <p:spPr>
          <a:xfrm>
            <a:off x="6217920" y="1417320"/>
            <a:ext cx="5577840" cy="292608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508760"/>
            <a:ext cx="5212080" cy="347472"/>
          </a:xfrm>
          <a:prstGeom prst="rect">
            <a:avLst/>
          </a:prstGeom>
          <a:noFill/>
        </p:spPr>
        <p:txBody>
          <a:bodyPr wrap="square">
            <a:spAutoFit/>
          </a:bodyPr>
          <a:lstStyle/>
          <a:p>
            <a:pPr algn="l"/>
            <a:r>
              <a:rPr sz="1500" b="1">
                <a:solidFill>
                  <a:srgbClr val="00D48A"/>
                </a:solidFill>
                <a:latin typeface="Calibri"/>
              </a:rPr>
              <a:t>At cost-optimal threshold = 0.10</a:t>
            </a:r>
          </a:p>
        </p:txBody>
      </p:sp>
      <p:sp>
        <p:nvSpPr>
          <p:cNvPr id="11" name="TextBox 10"/>
          <p:cNvSpPr txBox="1"/>
          <p:nvPr/>
        </p:nvSpPr>
        <p:spPr>
          <a:xfrm>
            <a:off x="6400800" y="1920240"/>
            <a:ext cx="5212080" cy="2286000"/>
          </a:xfrm>
          <a:prstGeom prst="rect">
            <a:avLst/>
          </a:prstGeom>
          <a:noFill/>
        </p:spPr>
        <p:txBody>
          <a:bodyPr wrap="square">
            <a:spAutoFit/>
          </a:bodyPr>
          <a:lstStyle/>
          <a:p>
            <a:pPr algn="l"/>
            <a:r>
              <a:rPr sz="1400" b="0">
                <a:solidFill>
                  <a:srgbClr val="9CA3AF"/>
                </a:solidFill>
                <a:latin typeface="Calibri"/>
              </a:rPr>
              <a:t>Predicted positives:  controlled volume
True positives:        meaningful recall
False positives:       manageable noise
False negatives:       minimized given costs
Same model. Same predictions.
Different operating point — tuned to your
actual FP/FN cost ratio.</a:t>
            </a:r>
          </a:p>
        </p:txBody>
      </p:sp>
      <p:sp>
        <p:nvSpPr>
          <p:cNvPr id="12" name="Rectangle 11"/>
          <p:cNvSpPr/>
          <p:nvPr/>
        </p:nvSpPr>
        <p:spPr>
          <a:xfrm>
            <a:off x="365760" y="4526280"/>
            <a:ext cx="11430000" cy="118872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617720"/>
            <a:ext cx="11064240" cy="1005840"/>
          </a:xfrm>
          <a:prstGeom prst="rect">
            <a:avLst/>
          </a:prstGeom>
          <a:noFill/>
        </p:spPr>
        <p:txBody>
          <a:bodyPr wrap="square">
            <a:spAutoFit/>
          </a:bodyPr>
          <a:lstStyle/>
          <a:p>
            <a:pPr algn="l"/>
            <a:r>
              <a:rPr sz="1400" b="0">
                <a:solidFill>
                  <a:srgbClr val="9CA3AF"/>
                </a:solidFill>
                <a:latin typeface="Calibri"/>
              </a:rPr>
              <a:t>The cost-matrix calculator takes cost_fp and cost_fn, sweeps threshold 0.001→0.999,
computes total_cost = FP × cost_fp + FN × cost_fn at each step on the validation set,
and returns the threshold with the lowest expected operational cost.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91440"/>
            <a:ext cx="10058400" cy="640080"/>
          </a:xfrm>
          <a:prstGeom prst="rect">
            <a:avLst/>
          </a:prstGeom>
          <a:noFill/>
        </p:spPr>
        <p:txBody>
          <a:bodyPr wrap="square">
            <a:spAutoFit/>
          </a:bodyPr>
          <a:lstStyle/>
          <a:p>
            <a:pPr algn="l"/>
            <a:r>
              <a:rPr sz="2800" b="1">
                <a:solidFill>
                  <a:srgbClr val="00D48A"/>
                </a:solidFill>
                <a:latin typeface="Calibri"/>
              </a:rPr>
              <a:t>Limitations &amp; Stakeholder Recommendation</a:t>
            </a:r>
          </a:p>
        </p:txBody>
      </p:sp>
      <p:sp>
        <p:nvSpPr>
          <p:cNvPr id="4" name="TextBox 3"/>
          <p:cNvSpPr txBox="1"/>
          <p:nvPr/>
        </p:nvSpPr>
        <p:spPr>
          <a:xfrm>
            <a:off x="457200" y="731520"/>
            <a:ext cx="10058400" cy="457200"/>
          </a:xfrm>
          <a:prstGeom prst="rect">
            <a:avLst/>
          </a:prstGeom>
          <a:noFill/>
        </p:spPr>
        <p:txBody>
          <a:bodyPr wrap="square">
            <a:spAutoFit/>
          </a:bodyPr>
          <a:lstStyle/>
          <a:p>
            <a:pPr algn="l"/>
            <a:r>
              <a:rPr sz="1600" b="0">
                <a:solidFill>
                  <a:srgbClr val="9CA3AF"/>
                </a:solidFill>
                <a:latin typeface="Calibri"/>
              </a:rPr>
              <a:t>Honest weaknesses + what I'd tell a SOC director</a:t>
            </a:r>
          </a:p>
        </p:txBody>
      </p:sp>
      <p:sp>
        <p:nvSpPr>
          <p:cNvPr id="5" name="TextBox 4"/>
          <p:cNvSpPr txBox="1"/>
          <p:nvPr/>
        </p:nvSpPr>
        <p:spPr>
          <a:xfrm>
            <a:off x="274320" y="6492240"/>
            <a:ext cx="10972800" cy="320040"/>
          </a:xfrm>
          <a:prstGeom prst="rect">
            <a:avLst/>
          </a:prstGeom>
          <a:noFill/>
        </p:spPr>
        <p:txBody>
          <a:bodyPr wrap="square">
            <a:spAutoFit/>
          </a:bodyPr>
          <a:lstStyle/>
          <a:p>
            <a:pPr algn="l"/>
            <a:r>
              <a:rPr sz="1100" b="0">
                <a:solidFill>
                  <a:srgbClr val="9CA3AF"/>
                </a:solidFill>
                <a:latin typeface="Calibri"/>
              </a:rPr>
              <a:t>Mark Crisci  |  LANL ML Final Project  |  12/12</a:t>
            </a:r>
          </a:p>
        </p:txBody>
      </p:sp>
      <p:sp>
        <p:nvSpPr>
          <p:cNvPr id="6" name="TextBox 5"/>
          <p:cNvSpPr txBox="1"/>
          <p:nvPr/>
        </p:nvSpPr>
        <p:spPr>
          <a:xfrm>
            <a:off x="365760" y="1417320"/>
            <a:ext cx="5486400" cy="365760"/>
          </a:xfrm>
          <a:prstGeom prst="rect">
            <a:avLst/>
          </a:prstGeom>
          <a:noFill/>
        </p:spPr>
        <p:txBody>
          <a:bodyPr wrap="square">
            <a:spAutoFit/>
          </a:bodyPr>
          <a:lstStyle/>
          <a:p>
            <a:pPr algn="l"/>
            <a:r>
              <a:rPr sz="1600" b="1">
                <a:solidFill>
                  <a:srgbClr val="FFB800"/>
                </a:solidFill>
                <a:latin typeface="Calibri"/>
              </a:rPr>
              <a:t>Limitations</a:t>
            </a:r>
          </a:p>
        </p:txBody>
      </p:sp>
      <p:sp>
        <p:nvSpPr>
          <p:cNvPr id="7" name="Rectangle 6"/>
          <p:cNvSpPr/>
          <p:nvPr/>
        </p:nvSpPr>
        <p:spPr>
          <a:xfrm>
            <a:off x="365760" y="1874519"/>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920239"/>
            <a:ext cx="5212080" cy="301752"/>
          </a:xfrm>
          <a:prstGeom prst="rect">
            <a:avLst/>
          </a:prstGeom>
          <a:noFill/>
        </p:spPr>
        <p:txBody>
          <a:bodyPr wrap="square">
            <a:spAutoFit/>
          </a:bodyPr>
          <a:lstStyle/>
          <a:p>
            <a:pPr algn="l"/>
            <a:r>
              <a:rPr sz="1300" b="1">
                <a:solidFill>
                  <a:srgbClr val="FFB800"/>
                </a:solidFill>
                <a:latin typeface="Calibri"/>
              </a:rPr>
              <a:t>Streaming is simulated</a:t>
            </a:r>
          </a:p>
        </p:txBody>
      </p:sp>
      <p:sp>
        <p:nvSpPr>
          <p:cNvPr id="9" name="TextBox 8"/>
          <p:cNvSpPr txBox="1"/>
          <p:nvPr/>
        </p:nvSpPr>
        <p:spPr>
          <a:xfrm>
            <a:off x="548640" y="2240279"/>
            <a:ext cx="5212080" cy="256032"/>
          </a:xfrm>
          <a:prstGeom prst="rect">
            <a:avLst/>
          </a:prstGeom>
          <a:noFill/>
        </p:spPr>
        <p:txBody>
          <a:bodyPr wrap="square">
            <a:spAutoFit/>
          </a:bodyPr>
          <a:lstStyle/>
          <a:p>
            <a:pPr algn="l"/>
            <a:r>
              <a:rPr sz="1200" b="0">
                <a:solidFill>
                  <a:srgbClr val="9CA3AF"/>
                </a:solidFill>
                <a:latin typeface="Calibri"/>
              </a:rPr>
              <a:t>CSV replay at 1 event/sec — not live Kinesis ingest</a:t>
            </a:r>
          </a:p>
        </p:txBody>
      </p:sp>
      <p:sp>
        <p:nvSpPr>
          <p:cNvPr id="10" name="Rectangle 9"/>
          <p:cNvSpPr/>
          <p:nvPr/>
        </p:nvSpPr>
        <p:spPr>
          <a:xfrm>
            <a:off x="365760" y="2624327"/>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670047"/>
            <a:ext cx="5212080" cy="301752"/>
          </a:xfrm>
          <a:prstGeom prst="rect">
            <a:avLst/>
          </a:prstGeom>
          <a:noFill/>
        </p:spPr>
        <p:txBody>
          <a:bodyPr wrap="square">
            <a:spAutoFit/>
          </a:bodyPr>
          <a:lstStyle/>
          <a:p>
            <a:pPr algn="l"/>
            <a:r>
              <a:rPr sz="1300" b="1">
                <a:solidFill>
                  <a:srgbClr val="FFB800"/>
                </a:solidFill>
                <a:latin typeface="Calibri"/>
              </a:rPr>
              <a:t>No calibration analysis</a:t>
            </a:r>
          </a:p>
        </p:txBody>
      </p:sp>
      <p:sp>
        <p:nvSpPr>
          <p:cNvPr id="12" name="TextBox 11"/>
          <p:cNvSpPr txBox="1"/>
          <p:nvPr/>
        </p:nvSpPr>
        <p:spPr>
          <a:xfrm>
            <a:off x="548640" y="2990087"/>
            <a:ext cx="5212080" cy="256032"/>
          </a:xfrm>
          <a:prstGeom prst="rect">
            <a:avLst/>
          </a:prstGeom>
          <a:noFill/>
        </p:spPr>
        <p:txBody>
          <a:bodyPr wrap="square">
            <a:spAutoFit/>
          </a:bodyPr>
          <a:lstStyle/>
          <a:p>
            <a:pPr algn="l"/>
            <a:r>
              <a:rPr sz="1200" b="0">
                <a:solidFill>
                  <a:srgbClr val="9CA3AF"/>
                </a:solidFill>
                <a:latin typeface="Calibri"/>
              </a:rPr>
              <a:t>Probabilities rank correctly; not verified as true frequencies</a:t>
            </a:r>
          </a:p>
        </p:txBody>
      </p:sp>
      <p:sp>
        <p:nvSpPr>
          <p:cNvPr id="13" name="Rectangle 12"/>
          <p:cNvSpPr/>
          <p:nvPr/>
        </p:nvSpPr>
        <p:spPr>
          <a:xfrm>
            <a:off x="365760" y="3374135"/>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3419855"/>
            <a:ext cx="5212080" cy="301752"/>
          </a:xfrm>
          <a:prstGeom prst="rect">
            <a:avLst/>
          </a:prstGeom>
          <a:noFill/>
        </p:spPr>
        <p:txBody>
          <a:bodyPr wrap="square">
            <a:spAutoFit/>
          </a:bodyPr>
          <a:lstStyle/>
          <a:p>
            <a:pPr algn="l"/>
            <a:r>
              <a:rPr sz="1300" b="1">
                <a:solidFill>
                  <a:srgbClr val="FFB800"/>
                </a:solidFill>
                <a:latin typeface="Calibri"/>
              </a:rPr>
              <a:t>k-fold not used</a:t>
            </a:r>
          </a:p>
        </p:txBody>
      </p:sp>
      <p:sp>
        <p:nvSpPr>
          <p:cNvPr id="15" name="TextBox 14"/>
          <p:cNvSpPr txBox="1"/>
          <p:nvPr/>
        </p:nvSpPr>
        <p:spPr>
          <a:xfrm>
            <a:off x="548640" y="3739895"/>
            <a:ext cx="5212080" cy="256032"/>
          </a:xfrm>
          <a:prstGeom prst="rect">
            <a:avLst/>
          </a:prstGeom>
          <a:noFill/>
        </p:spPr>
        <p:txBody>
          <a:bodyPr wrap="square">
            <a:spAutoFit/>
          </a:bodyPr>
          <a:lstStyle/>
          <a:p>
            <a:pPr algn="l"/>
            <a:r>
              <a:rPr sz="1200" b="0">
                <a:solidFill>
                  <a:srgbClr val="9CA3AF"/>
                </a:solidFill>
                <a:latin typeface="Calibri"/>
              </a:rPr>
              <a:t>Justified by temporal structure; acknowledged as a gap</a:t>
            </a:r>
          </a:p>
        </p:txBody>
      </p:sp>
      <p:sp>
        <p:nvSpPr>
          <p:cNvPr id="16" name="Rectangle 15"/>
          <p:cNvSpPr/>
          <p:nvPr/>
        </p:nvSpPr>
        <p:spPr>
          <a:xfrm>
            <a:off x="365760" y="4123943"/>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4169663"/>
            <a:ext cx="5212080" cy="301752"/>
          </a:xfrm>
          <a:prstGeom prst="rect">
            <a:avLst/>
          </a:prstGeom>
          <a:noFill/>
        </p:spPr>
        <p:txBody>
          <a:bodyPr wrap="square">
            <a:spAutoFit/>
          </a:bodyPr>
          <a:lstStyle/>
          <a:p>
            <a:pPr algn="l"/>
            <a:r>
              <a:rPr sz="1300" b="1">
                <a:solidFill>
                  <a:srgbClr val="FFB800"/>
                </a:solidFill>
                <a:latin typeface="Calibri"/>
              </a:rPr>
              <a:t>596 positives total</a:t>
            </a:r>
          </a:p>
        </p:txBody>
      </p:sp>
      <p:sp>
        <p:nvSpPr>
          <p:cNvPr id="18" name="TextBox 17"/>
          <p:cNvSpPr txBox="1"/>
          <p:nvPr/>
        </p:nvSpPr>
        <p:spPr>
          <a:xfrm>
            <a:off x="548640" y="4489703"/>
            <a:ext cx="5212080" cy="256032"/>
          </a:xfrm>
          <a:prstGeom prst="rect">
            <a:avLst/>
          </a:prstGeom>
          <a:noFill/>
        </p:spPr>
        <p:txBody>
          <a:bodyPr wrap="square">
            <a:spAutoFit/>
          </a:bodyPr>
          <a:lstStyle/>
          <a:p>
            <a:pPr algn="l"/>
            <a:r>
              <a:rPr sz="1200" b="0">
                <a:solidFill>
                  <a:srgbClr val="9CA3AF"/>
                </a:solidFill>
                <a:latin typeface="Calibri"/>
              </a:rPr>
              <a:t>Model generalizes within LANL; external validity unknown</a:t>
            </a:r>
          </a:p>
        </p:txBody>
      </p:sp>
      <p:sp>
        <p:nvSpPr>
          <p:cNvPr id="19" name="Rectangle 18"/>
          <p:cNvSpPr/>
          <p:nvPr/>
        </p:nvSpPr>
        <p:spPr>
          <a:xfrm>
            <a:off x="365760" y="4873751"/>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4919471"/>
            <a:ext cx="5212080" cy="301752"/>
          </a:xfrm>
          <a:prstGeom prst="rect">
            <a:avLst/>
          </a:prstGeom>
          <a:noFill/>
        </p:spPr>
        <p:txBody>
          <a:bodyPr wrap="square">
            <a:spAutoFit/>
          </a:bodyPr>
          <a:lstStyle/>
          <a:p>
            <a:pPr algn="l"/>
            <a:r>
              <a:rPr sz="1300" b="1">
                <a:solidFill>
                  <a:srgbClr val="FFB800"/>
                </a:solidFill>
                <a:latin typeface="Calibri"/>
              </a:rPr>
              <a:t>GenAI comparison: NOT DONE</a:t>
            </a:r>
          </a:p>
        </p:txBody>
      </p:sp>
      <p:sp>
        <p:nvSpPr>
          <p:cNvPr id="21" name="TextBox 20"/>
          <p:cNvSpPr txBox="1"/>
          <p:nvPr/>
        </p:nvSpPr>
        <p:spPr>
          <a:xfrm>
            <a:off x="548640" y="5239511"/>
            <a:ext cx="5212080" cy="256032"/>
          </a:xfrm>
          <a:prstGeom prst="rect">
            <a:avLst/>
          </a:prstGeom>
          <a:noFill/>
        </p:spPr>
        <p:txBody>
          <a:bodyPr wrap="square">
            <a:spAutoFit/>
          </a:bodyPr>
          <a:lstStyle/>
          <a:p>
            <a:pPr algn="l"/>
            <a:r>
              <a:rPr sz="1200" b="0">
                <a:solidFill>
                  <a:srgbClr val="9CA3AF"/>
                </a:solidFill>
                <a:latin typeface="Calibri"/>
              </a:rPr>
              <a:t>Extra credit not claimed</a:t>
            </a:r>
          </a:p>
        </p:txBody>
      </p:sp>
      <p:sp>
        <p:nvSpPr>
          <p:cNvPr id="22" name="TextBox 21"/>
          <p:cNvSpPr txBox="1"/>
          <p:nvPr/>
        </p:nvSpPr>
        <p:spPr>
          <a:xfrm>
            <a:off x="6217920" y="1417320"/>
            <a:ext cx="5577840" cy="365760"/>
          </a:xfrm>
          <a:prstGeom prst="rect">
            <a:avLst/>
          </a:prstGeom>
          <a:noFill/>
        </p:spPr>
        <p:txBody>
          <a:bodyPr wrap="square">
            <a:spAutoFit/>
          </a:bodyPr>
          <a:lstStyle/>
          <a:p>
            <a:pPr algn="l"/>
            <a:r>
              <a:rPr sz="1600" b="1">
                <a:solidFill>
                  <a:srgbClr val="00D48A"/>
                </a:solidFill>
                <a:latin typeface="Calibri"/>
              </a:rPr>
              <a:t>Stakeholder Recommendation</a:t>
            </a:r>
          </a:p>
        </p:txBody>
      </p:sp>
      <p:sp>
        <p:nvSpPr>
          <p:cNvPr id="23" name="Rectangle 22"/>
          <p:cNvSpPr/>
          <p:nvPr/>
        </p:nvSpPr>
        <p:spPr>
          <a:xfrm>
            <a:off x="6217920" y="1874519"/>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0" y="1920239"/>
            <a:ext cx="5212080" cy="301752"/>
          </a:xfrm>
          <a:prstGeom prst="rect">
            <a:avLst/>
          </a:prstGeom>
          <a:noFill/>
        </p:spPr>
        <p:txBody>
          <a:bodyPr wrap="square">
            <a:spAutoFit/>
          </a:bodyPr>
          <a:lstStyle/>
          <a:p>
            <a:pPr algn="l"/>
            <a:r>
              <a:rPr sz="1300" b="1">
                <a:solidFill>
                  <a:srgbClr val="00D48A"/>
                </a:solidFill>
                <a:latin typeface="Calibri"/>
              </a:rPr>
              <a:t>Deploy LightGBM at cost-optimal threshold</a:t>
            </a:r>
          </a:p>
        </p:txBody>
      </p:sp>
      <p:sp>
        <p:nvSpPr>
          <p:cNvPr id="25" name="TextBox 24"/>
          <p:cNvSpPr txBox="1"/>
          <p:nvPr/>
        </p:nvSpPr>
        <p:spPr>
          <a:xfrm>
            <a:off x="6400800" y="2240279"/>
            <a:ext cx="5212080" cy="256032"/>
          </a:xfrm>
          <a:prstGeom prst="rect">
            <a:avLst/>
          </a:prstGeom>
          <a:noFill/>
        </p:spPr>
        <p:txBody>
          <a:bodyPr wrap="square">
            <a:spAutoFit/>
          </a:bodyPr>
          <a:lstStyle/>
          <a:p>
            <a:pPr algn="l"/>
            <a:r>
              <a:rPr sz="1200" b="0">
                <a:solidFill>
                  <a:srgbClr val="9CA3AF"/>
                </a:solidFill>
                <a:latin typeface="Calibri"/>
              </a:rPr>
              <a:t>Set threshold via the cost-matrix calculator using your actual FP/FN costs</a:t>
            </a:r>
          </a:p>
        </p:txBody>
      </p:sp>
      <p:sp>
        <p:nvSpPr>
          <p:cNvPr id="26" name="Rectangle 25"/>
          <p:cNvSpPr/>
          <p:nvPr/>
        </p:nvSpPr>
        <p:spPr>
          <a:xfrm>
            <a:off x="6217920" y="2624327"/>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0" y="2670047"/>
            <a:ext cx="5212080" cy="301752"/>
          </a:xfrm>
          <a:prstGeom prst="rect">
            <a:avLst/>
          </a:prstGeom>
          <a:noFill/>
        </p:spPr>
        <p:txBody>
          <a:bodyPr wrap="square">
            <a:spAutoFit/>
          </a:bodyPr>
          <a:lstStyle/>
          <a:p>
            <a:pPr algn="l"/>
            <a:r>
              <a:rPr sz="1300" b="1">
                <a:solidFill>
                  <a:srgbClr val="00D48A"/>
                </a:solidFill>
                <a:latin typeface="Calibri"/>
              </a:rPr>
              <a:t>Pair every alert with its SHAP explanation</a:t>
            </a:r>
          </a:p>
        </p:txBody>
      </p:sp>
      <p:sp>
        <p:nvSpPr>
          <p:cNvPr id="28" name="TextBox 27"/>
          <p:cNvSpPr txBox="1"/>
          <p:nvPr/>
        </p:nvSpPr>
        <p:spPr>
          <a:xfrm>
            <a:off x="6400800" y="2990087"/>
            <a:ext cx="5212080" cy="256032"/>
          </a:xfrm>
          <a:prstGeom prst="rect">
            <a:avLst/>
          </a:prstGeom>
          <a:noFill/>
        </p:spPr>
        <p:txBody>
          <a:bodyPr wrap="square">
            <a:spAutoFit/>
          </a:bodyPr>
          <a:lstStyle/>
          <a:p>
            <a:pPr algn="l"/>
            <a:r>
              <a:rPr sz="1200" b="0">
                <a:solidFill>
                  <a:srgbClr val="9CA3AF"/>
                </a:solidFill>
                <a:latin typeface="Calibri"/>
              </a:rPr>
              <a:t>Analysts see WHY the model flagged — not just that it did</a:t>
            </a:r>
          </a:p>
        </p:txBody>
      </p:sp>
      <p:sp>
        <p:nvSpPr>
          <p:cNvPr id="29" name="Rectangle 28"/>
          <p:cNvSpPr/>
          <p:nvPr/>
        </p:nvSpPr>
        <p:spPr>
          <a:xfrm>
            <a:off x="6217920" y="3374135"/>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0" y="3419855"/>
            <a:ext cx="5212080" cy="301752"/>
          </a:xfrm>
          <a:prstGeom prst="rect">
            <a:avLst/>
          </a:prstGeom>
          <a:noFill/>
        </p:spPr>
        <p:txBody>
          <a:bodyPr wrap="square">
            <a:spAutoFit/>
          </a:bodyPr>
          <a:lstStyle/>
          <a:p>
            <a:pPr algn="l"/>
            <a:r>
              <a:rPr sz="1300" b="1">
                <a:solidFill>
                  <a:srgbClr val="00D48A"/>
                </a:solidFill>
                <a:latin typeface="Calibri"/>
              </a:rPr>
              <a:t>Use the counterfactual table as first-line remediation</a:t>
            </a:r>
          </a:p>
        </p:txBody>
      </p:sp>
      <p:sp>
        <p:nvSpPr>
          <p:cNvPr id="31" name="TextBox 30"/>
          <p:cNvSpPr txBox="1"/>
          <p:nvPr/>
        </p:nvSpPr>
        <p:spPr>
          <a:xfrm>
            <a:off x="6400800" y="3739895"/>
            <a:ext cx="5212080" cy="256032"/>
          </a:xfrm>
          <a:prstGeom prst="rect">
            <a:avLst/>
          </a:prstGeom>
          <a:noFill/>
        </p:spPr>
        <p:txBody>
          <a:bodyPr wrap="square">
            <a:spAutoFit/>
          </a:bodyPr>
          <a:lstStyle/>
          <a:p>
            <a:pPr algn="l"/>
            <a:r>
              <a:rPr sz="1200" b="0">
                <a:solidFill>
                  <a:srgbClr val="9CA3AF"/>
                </a:solidFill>
                <a:latin typeface="Calibri"/>
              </a:rPr>
              <a:t>'Reduce outbound auth count by 2' is actionable; 'elevated risk' is not</a:t>
            </a:r>
          </a:p>
        </p:txBody>
      </p:sp>
      <p:sp>
        <p:nvSpPr>
          <p:cNvPr id="32" name="Rectangle 31"/>
          <p:cNvSpPr/>
          <p:nvPr/>
        </p:nvSpPr>
        <p:spPr>
          <a:xfrm>
            <a:off x="6217920" y="4123943"/>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0" y="4169663"/>
            <a:ext cx="5212080" cy="301752"/>
          </a:xfrm>
          <a:prstGeom prst="rect">
            <a:avLst/>
          </a:prstGeom>
          <a:noFill/>
        </p:spPr>
        <p:txBody>
          <a:bodyPr wrap="square">
            <a:spAutoFit/>
          </a:bodyPr>
          <a:lstStyle/>
          <a:p>
            <a:pPr algn="l"/>
            <a:r>
              <a:rPr sz="1300" b="1">
                <a:solidFill>
                  <a:srgbClr val="00D48A"/>
                </a:solidFill>
                <a:latin typeface="Calibri"/>
              </a:rPr>
              <a:t>Add calibration before quoting percentages</a:t>
            </a:r>
          </a:p>
        </p:txBody>
      </p:sp>
      <p:sp>
        <p:nvSpPr>
          <p:cNvPr id="34" name="TextBox 33"/>
          <p:cNvSpPr txBox="1"/>
          <p:nvPr/>
        </p:nvSpPr>
        <p:spPr>
          <a:xfrm>
            <a:off x="6400800" y="4489703"/>
            <a:ext cx="5212080" cy="256032"/>
          </a:xfrm>
          <a:prstGeom prst="rect">
            <a:avLst/>
          </a:prstGeom>
          <a:noFill/>
        </p:spPr>
        <p:txBody>
          <a:bodyPr wrap="square">
            <a:spAutoFit/>
          </a:bodyPr>
          <a:lstStyle/>
          <a:p>
            <a:pPr algn="l"/>
            <a:r>
              <a:rPr sz="1200" b="0">
                <a:solidFill>
                  <a:srgbClr val="9CA3AF"/>
                </a:solidFill>
                <a:latin typeface="Calibri"/>
              </a:rPr>
              <a:t>Reliability diagrams + Platt scaling before telling a CISO '74.5% chance'</a:t>
            </a:r>
          </a:p>
        </p:txBody>
      </p:sp>
      <p:sp>
        <p:nvSpPr>
          <p:cNvPr id="35" name="Rectangle 34"/>
          <p:cNvSpPr/>
          <p:nvPr/>
        </p:nvSpPr>
        <p:spPr>
          <a:xfrm>
            <a:off x="6217920" y="4873751"/>
            <a:ext cx="5577840" cy="685800"/>
          </a:xfrm>
          <a:prstGeom prst="rect">
            <a:avLst/>
          </a:prstGeom>
          <a:solidFill>
            <a:srgbClr val="1A2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0" y="4919471"/>
            <a:ext cx="5212080" cy="301752"/>
          </a:xfrm>
          <a:prstGeom prst="rect">
            <a:avLst/>
          </a:prstGeom>
          <a:noFill/>
        </p:spPr>
        <p:txBody>
          <a:bodyPr wrap="square">
            <a:spAutoFit/>
          </a:bodyPr>
          <a:lstStyle/>
          <a:p>
            <a:pPr algn="l"/>
            <a:r>
              <a:rPr sz="1300" b="1">
                <a:solidFill>
                  <a:srgbClr val="00D48A"/>
                </a:solidFill>
                <a:latin typeface="Calibri"/>
              </a:rPr>
              <a:t>Future: real Kinesis ingest</a:t>
            </a:r>
          </a:p>
        </p:txBody>
      </p:sp>
      <p:sp>
        <p:nvSpPr>
          <p:cNvPr id="37" name="TextBox 36"/>
          <p:cNvSpPr txBox="1"/>
          <p:nvPr/>
        </p:nvSpPr>
        <p:spPr>
          <a:xfrm>
            <a:off x="6400800" y="5239511"/>
            <a:ext cx="5212080" cy="256032"/>
          </a:xfrm>
          <a:prstGeom prst="rect">
            <a:avLst/>
          </a:prstGeom>
          <a:noFill/>
        </p:spPr>
        <p:txBody>
          <a:bodyPr wrap="square">
            <a:spAutoFit/>
          </a:bodyPr>
          <a:lstStyle/>
          <a:p>
            <a:pPr algn="l"/>
            <a:r>
              <a:rPr sz="1200" b="0">
                <a:solidFill>
                  <a:srgbClr val="9CA3AF"/>
                </a:solidFill>
                <a:latin typeface="Calibri"/>
              </a:rPr>
              <a:t>Swap CSV replayer for Kinesis consumer — model and API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90</TotalTime>
  <Words>3986</Words>
  <Application>Microsoft Office PowerPoint</Application>
  <PresentationFormat>Custom</PresentationFormat>
  <Paragraphs>344</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mark crisci</cp:lastModifiedBy>
  <cp:revision>5</cp:revision>
  <dcterms:created xsi:type="dcterms:W3CDTF">2013-01-27T09:14:16Z</dcterms:created>
  <dcterms:modified xsi:type="dcterms:W3CDTF">2026-05-14T04:41:37Z</dcterms:modified>
  <cp:category/>
</cp:coreProperties>
</file>