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9" r:id="rId12"/>
    <p:sldId id="265" r:id="rId13"/>
    <p:sldId id="266" r:id="rId14"/>
    <p:sldId id="267" r:id="rId1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7FB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377440"/>
            <a:ext cx="12188952" cy="54864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Calibri"/>
              </a:rPr>
              <a:t>PREDICTING CYBER ATTACKS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1956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0D48A"/>
                </a:solidFill>
                <a:latin typeface="Calibri"/>
              </a:rPr>
              <a:t>ONE HOUR EARLY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CA3AF"/>
                </a:solidFill>
                <a:latin typeface="Calibri"/>
              </a:rPr>
              <a:t>Supervised Binary Classification on Real Enterprise Telemetry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CA3AF"/>
                </a:solidFill>
                <a:latin typeface="Calibri"/>
              </a:rPr>
              <a:t>Mark Crisci  |  Machine Learning Final Project  |  May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CA3AF"/>
                </a:solidFill>
                <a:latin typeface="Calibri"/>
              </a:rPr>
              <a:t>Dataset: LANL Unified Host &amp; Network Telemetry (not Kaggle)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8A"/>
                </a:solidFill>
                <a:latin typeface="Calibri"/>
              </a:rPr>
              <a:t>The 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  <a:latin typeface="Calibri"/>
              </a:rPr>
              <a:t>Supervised binary classification — future-window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  <a:latin typeface="Calibri"/>
              </a:rPr>
              <a:t>Mark Crisci  |  LANL ML Final Project  |  2/12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11274552" cy="13716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D48A"/>
                </a:solidFill>
                <a:latin typeface="Calibri"/>
              </a:rPr>
              <a:t>"Given how a computer behaved in the current one-hour window, will it show red-team activity in the NEXT one-hour window?"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971800"/>
            <a:ext cx="11274552" cy="667512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11000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▸  Predict NEXT window — not current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91840"/>
            <a:ext cx="107716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Prevents the model from reading its own label (data leakage)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685032"/>
            <a:ext cx="11274552" cy="667512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3730752"/>
            <a:ext cx="11000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▸  Binary target: 0 = benign, 1 = attack next hour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05072"/>
            <a:ext cx="107716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Built with Spark lead() window function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98264"/>
            <a:ext cx="11274552" cy="667512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4443984"/>
            <a:ext cx="11000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▸  Supervised learning — 596 ground-truth attack labels used directly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718304"/>
            <a:ext cx="107716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Unlike prior LANL work that uses unsupervised anomaly detection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11496"/>
            <a:ext cx="11274552" cy="667512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5157216"/>
            <a:ext cx="110002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▸  Operationally useful: flag hosts BEFORE compromise, not during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431536"/>
            <a:ext cx="107716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Earlier signal = time to respond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8A"/>
                </a:solidFill>
                <a:latin typeface="Calibri"/>
              </a:rPr>
              <a:t>Dataset — LANL Enterprise Telemetry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  <a:latin typeface="Calibri"/>
              </a:rPr>
              <a:t>Real government network — not Kaggle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  <a:latin typeface="Calibri"/>
              </a:rPr>
              <a:t>Mark Crisci  |  LANL ML Final Project  |  3/12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577840" cy="658368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D48A"/>
                </a:solidFill>
                <a:latin typeface="Calibri"/>
              </a:rPr>
              <a:t>auth.txt.gz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46304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800"/>
                </a:solidFill>
                <a:latin typeface="Calibri"/>
              </a:rPr>
              <a:t>7.1 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6479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Authentication events — logon/logoff, success/fail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130552"/>
            <a:ext cx="5577840" cy="658368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217627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D48A"/>
                </a:solidFill>
                <a:latin typeface="Calibri"/>
              </a:rPr>
              <a:t>flows.txt.gz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217627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800"/>
                </a:solidFill>
                <a:latin typeface="Calibri"/>
              </a:rPr>
              <a:t>1.0 GB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7802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Network flows — src, dst, bytes, packets, duration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43784"/>
            <a:ext cx="5577840" cy="658368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288950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D48A"/>
                </a:solidFill>
                <a:latin typeface="Calibri"/>
              </a:rPr>
              <a:t>proc.txt.gz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889504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800"/>
                </a:solidFill>
                <a:latin typeface="Calibri"/>
              </a:rPr>
              <a:t>2.2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19125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Process start/stop events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557016"/>
            <a:ext cx="5577840" cy="658368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360273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D48A"/>
                </a:solidFill>
                <a:latin typeface="Calibri"/>
              </a:rPr>
              <a:t>dns.txt.gz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3602736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800"/>
                </a:solidFill>
                <a:latin typeface="Calibri"/>
              </a:rPr>
              <a:t>176 MB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90448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DNS lookups — domains queried per host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270248"/>
            <a:ext cx="5577840" cy="658368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431596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D48A"/>
                </a:solidFill>
                <a:latin typeface="Calibri"/>
              </a:rPr>
              <a:t>redteam.txt.gz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31596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800"/>
                </a:solidFill>
                <a:latin typeface="Calibri"/>
              </a:rPr>
              <a:t>4.7 KB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6177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Ground-truth attack labels — 596 compromised host-hours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1417320"/>
            <a:ext cx="5212080" cy="9144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29400" y="15087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CA3AF"/>
                </a:solidFill>
                <a:latin typeface="Calibri"/>
              </a:rPr>
              <a:t>Total host-hour rows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18288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D48A"/>
                </a:solidFill>
                <a:latin typeface="Calibri"/>
              </a:rPr>
              <a:t>13.9 million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22860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After Spark aggregation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2423160"/>
            <a:ext cx="5212080" cy="9144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629400" y="2514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CA3AF"/>
                </a:solidFill>
                <a:latin typeface="Calibri"/>
              </a:rPr>
              <a:t>Attack labels (positives)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D48A"/>
                </a:solidFill>
                <a:latin typeface="Calibri"/>
              </a:rPr>
              <a:t>596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32918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0.0043% positive rate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3429000"/>
            <a:ext cx="5212080" cy="9144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29400" y="35204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CA3AF"/>
                </a:solidFill>
                <a:latin typeface="Calibri"/>
              </a:rPr>
              <a:t>Dataset size (raw)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384048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D48A"/>
                </a:solidFill>
                <a:latin typeface="Calibri"/>
              </a:rPr>
              <a:t>~11 GB compressed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42976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58 days of telemetry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92240" y="4434840"/>
            <a:ext cx="5212080" cy="9144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29400" y="45262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CA3AF"/>
                </a:solidFill>
                <a:latin typeface="Calibri"/>
              </a:rPr>
              <a:t>Random PR AUC baseline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9400" y="484632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D48A"/>
                </a:solidFill>
                <a:latin typeface="Calibri"/>
              </a:rPr>
              <a:t>0.0000429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53035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= positive rate (the floor to beat)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8A"/>
                </a:solidFill>
                <a:latin typeface="Calibri"/>
              </a:rPr>
              <a:t>Cleaning, EDA &amp;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  <a:latin typeface="Calibri"/>
              </a:rPr>
              <a:t>Bronze → Silver → Gold (Apache Spark on EMR)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  <a:latin typeface="Calibri"/>
              </a:rPr>
              <a:t>Mark Crisci  |  LANL ML Final Project  |  4/12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394960" cy="77724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D48A"/>
                </a:solidFill>
                <a:latin typeface="Calibri"/>
              </a:rPr>
              <a:t>Bronze — Raw S3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01368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11 GB raw .txt.gz files, schema-cast, no modification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286000"/>
            <a:ext cx="5394960" cy="77724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D48A"/>
                </a:solidFill>
                <a:latin typeface="Calibri"/>
              </a:rPr>
              <a:t>Silver — Cleaned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70048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Spark ETL: type coercion fix, whitespace trim, partition by day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154680"/>
            <a:ext cx="5394960" cy="77724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32004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D48A"/>
                </a:solidFill>
                <a:latin typeface="Calibri"/>
              </a:rPr>
              <a:t>Gold — 43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38728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Aggregate per (computer, 1-hour window); join all 5 streams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160520"/>
            <a:ext cx="5394960" cy="150876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42062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800"/>
                </a:solidFill>
                <a:latin typeface="Calibri"/>
              </a:rPr>
              <a:t>Redundant Features (EDA finding)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57200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auth_total vs auth_inbound_count  r = 0.91
flows_bytes_total vs bytes_per_event  correlated
All 43 retained — tree model zeroes out redundant splits via regularization.
Feature importances confirmed near-zero gain for flagged features.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417320"/>
            <a:ext cx="5577840" cy="77724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0" y="14630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Auth features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14630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D48A"/>
                </a:solidFill>
                <a:latin typeface="Calibri"/>
              </a:rPr>
              <a:t>18 features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80136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  <a:latin typeface="Calibri"/>
              </a:rPr>
              <a:t>Failure rates, unique sources/dests, inbound vs outbound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2286000"/>
            <a:ext cx="5577840" cy="77724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0" y="2331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Flow features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23317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D48A"/>
                </a:solidFill>
                <a:latin typeface="Calibri"/>
              </a:rPr>
              <a:t>7 features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67004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  <a:latin typeface="Calibri"/>
              </a:rPr>
              <a:t>Bytes, packets, flow counts, bytes-per-event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154680"/>
            <a:ext cx="5577840" cy="77724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3200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DNS features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32004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D48A"/>
                </a:solidFill>
                <a:latin typeface="Calibri"/>
              </a:rPr>
              <a:t>3 features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53872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  <a:latin typeface="Calibri"/>
              </a:rPr>
              <a:t>Lookup counts, unique domains, density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4023360"/>
            <a:ext cx="5577840" cy="77724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0" y="40690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Process features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40690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D48A"/>
                </a:solidFill>
                <a:latin typeface="Calibri"/>
              </a:rPr>
              <a:t>4 features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40740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  <a:latin typeface="Calibri"/>
              </a:rPr>
              <a:t>Process diversity, volume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892040"/>
            <a:ext cx="5577840" cy="77724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00800" y="49377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Derived / time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49377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D48A"/>
                </a:solidFill>
                <a:latin typeface="Calibri"/>
              </a:rPr>
              <a:t>11 features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27608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  <a:latin typeface="Calibri"/>
              </a:rPr>
              <a:t>Cross-stream ratios, hour-of-day, day-of-week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576072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D48A"/>
                </a:solidFill>
                <a:latin typeface="Calibri"/>
              </a:rPr>
              <a:t>Total: 43 engineered features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8A"/>
                </a:solidFill>
                <a:latin typeface="Calibri"/>
              </a:rPr>
              <a:t>Literature Review &amp; Prior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  <a:latin typeface="Calibri"/>
              </a:rPr>
              <a:t>What's been done — and what we did differently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  <a:latin typeface="Calibri"/>
              </a:rPr>
              <a:t>Mark Crisci  |  LANL ML Final Project  |  5/12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11430000" cy="64008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▸  Turcotte et al. 2018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927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Original LANL dataset paper — collection methodology and ground-truth labelling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103120"/>
            <a:ext cx="11430000" cy="64008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14884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▸  Kent 2016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23160"/>
            <a:ext cx="10927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Graph-based anomaly scoring on LANL auth events (unsupervised)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788920"/>
            <a:ext cx="11430000" cy="64008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283464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▸  He &amp; Garcia 2009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08960"/>
            <a:ext cx="10927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Established PR AUC as primary metric for severely imbalanced classification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474720"/>
            <a:ext cx="11430000" cy="64008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352044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▸  Ghafir et al. 2018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794760"/>
            <a:ext cx="10927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Next-window threat forecasting reduces false positives vs current-window scoring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251960"/>
            <a:ext cx="11430000" cy="36576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60" y="43434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D48A"/>
                </a:solidFill>
                <a:latin typeface="Calibri"/>
              </a:rPr>
              <a:t>Our Departure from Prior 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54880"/>
            <a:ext cx="11064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▸  Supervised binary classification — NOT unsupervised anomaly detection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▸  All 596 ground-truth labels used directly — measurable precision-recall trade-off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394960"/>
            <a:ext cx="11064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▸  Next-window target (lead()) — prevents leakage, mimics operational deployment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715000"/>
            <a:ext cx="11064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▸  Cost-aware threshold tuning — business-cost optimization at serving 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035040"/>
            <a:ext cx="11064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▸  Counterfactual recommender — actionable 'what to change' for each alert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8A"/>
                </a:solidFill>
                <a:latin typeface="Calibri"/>
              </a:rPr>
              <a:t>Benchmark Model — Logistic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  <a:latin typeface="Calibri"/>
              </a:rPr>
              <a:t>And why accuracy is the wrong metric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  <a:latin typeface="Calibri"/>
              </a:rPr>
              <a:t>Mark Crisci  |  LANL ML Final Project  |  6/12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11430000" cy="1051560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Why accuracy fails on this dataset: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1051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A model that predicts "safe" for every single row achieves 99.9957% accuracy and catches ZERO attacks. Accuracy is meaningless when 99.996% of rows are negative.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606040"/>
            <a:ext cx="11430000" cy="86868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651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D48A"/>
                </a:solidFill>
                <a:latin typeface="Calibri"/>
              </a:rPr>
              <a:t>Correct metrics for imbalanced binary classification: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7180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CA3AF"/>
                </a:solidFill>
                <a:latin typeface="Calibri"/>
              </a:rPr>
              <a:t>PR AUC (primary) — sensitive to false positives; random baseline = positive rate = 0.0000429   |   ROC AUC (secondary) — global ranking ability   |   Precision &amp; Recall at cost-optimal threshold (NOT 0.5)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657600"/>
            <a:ext cx="3566160" cy="100584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3749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CA3AF"/>
                </a:solidFill>
                <a:latin typeface="Calibri"/>
              </a:rPr>
              <a:t>Benchmark: LR — Test ROC 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06908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D48A"/>
                </a:solidFill>
                <a:latin typeface="Calibri"/>
              </a:rPr>
              <a:t>0.820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526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Strong ranking ability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657600"/>
            <a:ext cx="3566160" cy="100584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251960" y="3749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CA3AF"/>
                </a:solidFill>
                <a:latin typeface="Calibri"/>
              </a:rPr>
              <a:t>Benchmark: LR — Test PR AUC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406908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D48A"/>
                </a:solidFill>
                <a:latin typeface="Calibri"/>
              </a:rPr>
              <a:t>0.00111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4526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26× random baseline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63840" y="3657600"/>
            <a:ext cx="3931920" cy="100584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01000" y="3749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CA3AF"/>
                </a:solidFill>
                <a:latin typeface="Calibri"/>
              </a:rPr>
              <a:t>Random PR AUC 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406908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D48A"/>
                </a:solidFill>
                <a:latin typeface="Calibri"/>
              </a:rPr>
              <a:t>0.0000429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4526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= positive rate; the true floor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8463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CA3AF"/>
                </a:solidFill>
                <a:latin typeface="Calibri"/>
              </a:rPr>
              <a:t>LR with class_weight='balanced' + median imputation + StandardScaler pipeline. This is the floor our ML models must beat.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394960"/>
            <a:ext cx="11430000" cy="77724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54406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CA3AF"/>
                </a:solidFill>
                <a:latin typeface="Calibri"/>
              </a:rPr>
              <a:t>Rubric note: 'logistic regression if predicting categorical/binary outcomes' — this is binary classification. LR is the correct benchmark by rubric spec.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8A"/>
                </a:solidFill>
                <a:latin typeface="Calibri"/>
              </a:rPr>
              <a:t>ML Models &amp; Hyperparameters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  <a:latin typeface="Calibri"/>
              </a:rPr>
              <a:t>Four candidates — head-to-head competition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  <a:latin typeface="Calibri"/>
              </a:rPr>
              <a:t>Mark Crisci  |  LANL ML Final Project  |  7/12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11430000" cy="86868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A3AF"/>
                </a:solidFill>
                <a:latin typeface="Calibri"/>
              </a:rPr>
              <a:t>Logistic Regression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40" y="14630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2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class_weight='balanced', max_iter=1000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77440"/>
            <a:ext cx="11430000" cy="86868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24231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A3AF"/>
                </a:solidFill>
                <a:latin typeface="Calibri"/>
              </a:rPr>
              <a:t>Random Forest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4231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300 trees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8346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class_weight='balanced', max_depth=None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337560"/>
            <a:ext cx="11430000" cy="86868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33832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B800"/>
                </a:solidFill>
                <a:latin typeface="Calibri"/>
              </a:rPr>
              <a:t>XGBoost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3832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400 trees, depth 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947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lr=0.08, subsample=0.85, colsample=0.85, λ=1.0, scale_pos_weight=n_neg/n_pos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297680"/>
            <a:ext cx="11430000" cy="86868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43434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D48A"/>
                </a:solidFill>
                <a:latin typeface="Calibri"/>
              </a:rPr>
              <a:t>LightGBM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4343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400 trees, 63 leaves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7548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lr=0.08, subsample=0.85, colsample=0.85, λ=1.0, class_weight='balanced'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303520"/>
            <a:ext cx="11430000" cy="77724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5349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D48A"/>
                </a:solidFill>
                <a:latin typeface="Calibri"/>
              </a:rPr>
              <a:t>Hyperparameter tuning strategy: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Manual validation-set search. Full grid search on 13.9M rows is computationally prohibitive. Varied n_estimators, depth/leaves, learning_rate, regularization. Selected values that maximized validation PR AUC. Locked before test evaluation.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8A"/>
                </a:solidFill>
                <a:latin typeface="Calibri"/>
              </a:rPr>
              <a:t>Train / Validation / Test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  <a:latin typeface="Calibri"/>
              </a:rPr>
              <a:t>60/20/20 stratified — and why not k-fold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  <a:latin typeface="Calibri"/>
              </a:rPr>
              <a:t>Mark Crisci  |  LANL ML Final Project  |  8/12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54480"/>
            <a:ext cx="6583680" cy="82296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1117"/>
                </a:solidFill>
                <a:latin typeface="Calibri"/>
              </a:rPr>
              <a:t>TRAIN  60%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0" y="1554480"/>
            <a:ext cx="2084832" cy="82296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269480" y="1737360"/>
            <a:ext cx="19751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D1117"/>
                </a:solidFill>
                <a:latin typeface="Calibri"/>
              </a:rPr>
              <a:t>VAL 20%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54312" y="1554480"/>
            <a:ext cx="2084832" cy="822960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400032" y="1737360"/>
            <a:ext cx="19751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TEST 20%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56032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Train 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56032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D48A"/>
                </a:solidFill>
                <a:latin typeface="Calibri"/>
              </a:rPr>
              <a:t>~8.34M rows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560320"/>
            <a:ext cx="6217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CA3AF"/>
                </a:solidFill>
                <a:latin typeface="Calibri"/>
              </a:rPr>
              <a:t>~358 positives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97180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Validation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297180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D48A"/>
                </a:solidFill>
                <a:latin typeface="Calibri"/>
              </a:rPr>
              <a:t>~2.78M rows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971800"/>
            <a:ext cx="6217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CA3AF"/>
                </a:solidFill>
                <a:latin typeface="Calibri"/>
              </a:rPr>
              <a:t>~119 positives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38328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Test 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338328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D48A"/>
                </a:solidFill>
                <a:latin typeface="Calibri"/>
              </a:rPr>
              <a:t>~2.78M rows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3383280"/>
            <a:ext cx="6217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CA3AF"/>
                </a:solidFill>
                <a:latin typeface="Calibri"/>
              </a:rPr>
              <a:t>~119 positives  ← reported in results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794760"/>
            <a:ext cx="11430000" cy="25603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38404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B800"/>
                </a:solidFill>
                <a:latin typeface="Calibri"/>
              </a:rPr>
              <a:t>Why k-fold was not used (honest explanation):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CA3AF"/>
                </a:solidFill>
                <a:latin typeface="Calibri"/>
              </a:rPr>
              <a:t>1.  Time-ordered security telemetry: random k-fold shuffles rows, leaking future behavioral patterns into training.
2.  Chronological split tested: red-team campaign is concentrated in the final weeks → strict time split places
     nearly ALL 596 positives in training → validation/test have zero positives → all metrics = NaN/undefined.
3.  Resolution: stratified random 60/20/20 preserves positive rate (~119/set). The lead() target construction
     prevents within-row temporal leakage. Hyperparameters tuned on validation set (= inner loop of nested k-fold
     without resampling). This is a deliberate, defensible choice — not an oversight.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8A"/>
                </a:solidFill>
                <a:latin typeface="Calibri"/>
              </a:rPr>
              <a:t>Results — All Models Across Validation &amp;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  <a:latin typeface="Calibri"/>
              </a:rPr>
              <a:t>PR AUC is the primary metric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  <a:latin typeface="Calibri"/>
              </a:rPr>
              <a:t>Mark Crisci  |  LANL ML Final Project  |  9/12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2880360" cy="4572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52704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D48A"/>
                </a:solidFill>
                <a:latin typeface="Calibri"/>
              </a:rPr>
              <a:t>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463040"/>
            <a:ext cx="1874520" cy="4572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74720" y="152704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D48A"/>
                </a:solidFill>
                <a:latin typeface="Calibri"/>
              </a:rPr>
              <a:t>Valid ROC AUC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1463040"/>
            <a:ext cx="1874520" cy="4572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94960" y="152704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D48A"/>
                </a:solidFill>
                <a:latin typeface="Calibri"/>
              </a:rPr>
              <a:t>Valid PR AUC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0" y="1463040"/>
            <a:ext cx="1874520" cy="4572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0" y="152704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D48A"/>
                </a:solidFill>
                <a:latin typeface="Calibri"/>
              </a:rPr>
              <a:t>Test ROC AUC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463040"/>
            <a:ext cx="1874520" cy="4572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35440" y="152704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D48A"/>
                </a:solidFill>
                <a:latin typeface="Calibri"/>
              </a:rPr>
              <a:t>Test PR AUC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965960"/>
            <a:ext cx="2880360" cy="566928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20756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Logistic Regression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83280" y="1965960"/>
            <a:ext cx="1874520" cy="566928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74720" y="207568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0.802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3520" y="1965960"/>
            <a:ext cx="1874520" cy="566928"/>
          </a:xfrm>
          <a:prstGeom prst="rect">
            <a:avLst/>
          </a:prstGeom>
          <a:solidFill>
            <a:srgbClr val="1E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94960" y="207568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D48A"/>
                </a:solidFill>
                <a:latin typeface="Calibri"/>
              </a:rPr>
              <a:t>0.000658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23760" y="1965960"/>
            <a:ext cx="1874520" cy="566928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0" y="207568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0.820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1965960"/>
            <a:ext cx="1874520" cy="566928"/>
          </a:xfrm>
          <a:prstGeom prst="rect">
            <a:avLst/>
          </a:prstGeom>
          <a:solidFill>
            <a:srgbClr val="1E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235440" y="207568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D48A"/>
                </a:solidFill>
                <a:latin typeface="Calibri"/>
              </a:rPr>
              <a:t>0.00111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578608"/>
            <a:ext cx="2880360" cy="566928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8640" y="268833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Random Forest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2578608"/>
            <a:ext cx="1874520" cy="566928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474720" y="268833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0.698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03520" y="2578608"/>
            <a:ext cx="1874520" cy="566928"/>
          </a:xfrm>
          <a:prstGeom prst="rect">
            <a:avLst/>
          </a:prstGeom>
          <a:solidFill>
            <a:srgbClr val="1E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394960" y="268833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D48A"/>
                </a:solidFill>
                <a:latin typeface="Calibri"/>
              </a:rPr>
              <a:t>0.000186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3760" y="2578608"/>
            <a:ext cx="1874520" cy="566928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0" y="268833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0.748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0" y="2578608"/>
            <a:ext cx="1874520" cy="566928"/>
          </a:xfrm>
          <a:prstGeom prst="rect">
            <a:avLst/>
          </a:prstGeom>
          <a:solidFill>
            <a:srgbClr val="1E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235440" y="268833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D48A"/>
                </a:solidFill>
                <a:latin typeface="Calibri"/>
              </a:rPr>
              <a:t>0.000322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191256"/>
            <a:ext cx="2880360" cy="566928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48640" y="3300984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XGBoost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83280" y="3191256"/>
            <a:ext cx="1874520" cy="566928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474720" y="330098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0.844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03520" y="3191256"/>
            <a:ext cx="1874520" cy="566928"/>
          </a:xfrm>
          <a:prstGeom prst="rect">
            <a:avLst/>
          </a:prstGeom>
          <a:solidFill>
            <a:srgbClr val="1E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394960" y="330098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D48A"/>
                </a:solidFill>
                <a:latin typeface="Calibri"/>
              </a:rPr>
              <a:t>0.001737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23760" y="3191256"/>
            <a:ext cx="1874520" cy="566928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315200" y="330098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0.879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0" y="3191256"/>
            <a:ext cx="1874520" cy="566928"/>
          </a:xfrm>
          <a:prstGeom prst="rect">
            <a:avLst/>
          </a:prstGeom>
          <a:solidFill>
            <a:srgbClr val="1E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235440" y="330098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D48A"/>
                </a:solidFill>
                <a:latin typeface="Calibri"/>
              </a:rPr>
              <a:t>0.03542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803904"/>
            <a:ext cx="2880360" cy="566928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48640" y="391363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1117"/>
                </a:solidFill>
                <a:latin typeface="Calibri"/>
              </a:rPr>
              <a:t>LightGBM  ← WINNER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383280" y="3803904"/>
            <a:ext cx="1874520" cy="566928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474720" y="391363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1117"/>
                </a:solidFill>
                <a:latin typeface="Calibri"/>
              </a:rPr>
              <a:t>0.838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303520" y="3803904"/>
            <a:ext cx="1874520" cy="566928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394960" y="391363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1117"/>
                </a:solidFill>
                <a:latin typeface="Calibri"/>
              </a:rPr>
              <a:t>0.001615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223760" y="3803904"/>
            <a:ext cx="1874520" cy="566928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315200" y="391363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1117"/>
                </a:solidFill>
                <a:latin typeface="Calibri"/>
              </a:rPr>
              <a:t>0.881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0" y="3803904"/>
            <a:ext cx="1874520" cy="566928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9235440" y="391363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1117"/>
                </a:solidFill>
                <a:latin typeface="Calibri"/>
              </a:rPr>
              <a:t>0.03905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4983480"/>
            <a:ext cx="3566160" cy="100584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94360" y="50749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CA3AF"/>
                </a:solidFill>
                <a:latin typeface="Calibri"/>
              </a:rPr>
              <a:t>LightGBM PR AUC lift over random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" y="539496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D48A"/>
                </a:solidFill>
                <a:latin typeface="Calibri"/>
              </a:rPr>
              <a:t>909×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4360" y="58521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0.039 ÷ 0.0000429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206240" y="4983480"/>
            <a:ext cx="3566160" cy="100584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343400" y="50749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CA3AF"/>
                </a:solidFill>
                <a:latin typeface="Calibri"/>
              </a:rPr>
              <a:t>Lift over LR baseline (35×)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43400" y="539496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D48A"/>
                </a:solidFill>
                <a:latin typeface="Calibri"/>
              </a:rPr>
              <a:t>35×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43400" y="58521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0.039 ÷ 0.00111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955279" y="4983480"/>
            <a:ext cx="3749039" cy="100584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8092439" y="5074920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CA3AF"/>
                </a:solidFill>
                <a:latin typeface="Calibri"/>
              </a:rPr>
              <a:t>LightGBM test ROC AUC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092439" y="5394960"/>
            <a:ext cx="34747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D48A"/>
                </a:solidFill>
                <a:latin typeface="Calibri"/>
              </a:rPr>
              <a:t>0.881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92439" y="5852160"/>
            <a:ext cx="3474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Best ranking performance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7472" y="51253"/>
            <a:ext cx="727500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dirty="0">
                <a:solidFill>
                  <a:srgbClr val="57FB72"/>
                </a:solidFill>
              </a:rPr>
              <a:t>Winning Model Diagnostics: ROC and PR Curves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785" y="496418"/>
            <a:ext cx="451566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dirty="0">
                <a:solidFill>
                  <a:schemeClr val="bg2"/>
                </a:solidFill>
              </a:rPr>
              <a:t>Validation and test curves for the </a:t>
            </a:r>
            <a:r>
              <a:rPr sz="1300" b="0" dirty="0" err="1">
                <a:solidFill>
                  <a:schemeClr val="bg2"/>
                </a:solidFill>
              </a:rPr>
              <a:t>LightGBM</a:t>
            </a:r>
            <a:r>
              <a:rPr sz="1300" b="0" dirty="0">
                <a:solidFill>
                  <a:schemeClr val="bg2"/>
                </a:solidFill>
              </a:rPr>
              <a:t> rare-event classifier</a:t>
            </a:r>
          </a:p>
        </p:txBody>
      </p:sp>
      <p:pic>
        <p:nvPicPr>
          <p:cNvPr id="4" name="Picture 3" descr="lgbm_roc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1053958"/>
            <a:ext cx="3925699" cy="2718909"/>
          </a:xfrm>
          <a:prstGeom prst="rect">
            <a:avLst/>
          </a:prstGeom>
        </p:spPr>
      </p:pic>
      <p:pic>
        <p:nvPicPr>
          <p:cNvPr id="5" name="Picture 4" descr="lgbm_roc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7753" y="901108"/>
            <a:ext cx="4251489" cy="2724954"/>
          </a:xfrm>
          <a:prstGeom prst="rect">
            <a:avLst/>
          </a:prstGeom>
        </p:spPr>
      </p:pic>
      <p:pic>
        <p:nvPicPr>
          <p:cNvPr id="6" name="Picture 5" descr="lgbm_pr_valid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785" y="3739702"/>
            <a:ext cx="3925826" cy="2718909"/>
          </a:xfrm>
          <a:prstGeom prst="rect">
            <a:avLst/>
          </a:prstGeom>
        </p:spPr>
      </p:pic>
      <p:pic>
        <p:nvPicPr>
          <p:cNvPr id="7" name="Picture 6" descr="lgbm_pr_t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7753" y="3645802"/>
            <a:ext cx="4251490" cy="272495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98384" y="540626"/>
            <a:ext cx="4251489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1E1E"/>
                </a:solidFill>
              </a:defRPr>
            </a:pPr>
            <a:r>
              <a:rPr dirty="0">
                <a:solidFill>
                  <a:srgbClr val="FFC000"/>
                </a:solidFill>
                <a:highlight>
                  <a:srgbClr val="000000"/>
                </a:highlight>
              </a:rPr>
              <a:t>ROC-AUC shows global ranking ability: </a:t>
            </a:r>
            <a:r>
              <a:rPr dirty="0" err="1">
                <a:solidFill>
                  <a:srgbClr val="FFC000"/>
                </a:solidFill>
                <a:highlight>
                  <a:srgbClr val="000000"/>
                </a:highlight>
              </a:rPr>
              <a:t>LightGBM</a:t>
            </a:r>
            <a:r>
              <a:rPr dirty="0">
                <a:solidFill>
                  <a:srgbClr val="FFC000"/>
                </a:solidFill>
                <a:highlight>
                  <a:srgbClr val="000000"/>
                </a:highlight>
              </a:rPr>
              <a:t> ranks attack-like host-hours above benign ones.</a:t>
            </a:r>
            <a:endParaRPr lang="en-US" dirty="0">
              <a:solidFill>
                <a:srgbClr val="FFC000"/>
              </a:solidFill>
              <a:highlight>
                <a:srgbClr val="000000"/>
              </a:highlight>
            </a:endParaRPr>
          </a:p>
          <a:p>
            <a:pPr>
              <a:defRPr sz="1050">
                <a:solidFill>
                  <a:srgbClr val="1E1E1E"/>
                </a:solidFill>
              </a:defRPr>
            </a:pPr>
            <a:endParaRPr lang="en-US" dirty="0"/>
          </a:p>
          <a:p>
            <a:pPr>
              <a:defRPr sz="1050">
                <a:solidFill>
                  <a:srgbClr val="1E1E1E"/>
                </a:solidFill>
              </a:defRPr>
            </a:pPr>
            <a:endParaRPr dirty="0"/>
          </a:p>
          <a:p>
            <a:pPr>
              <a:defRPr sz="1050">
                <a:solidFill>
                  <a:srgbClr val="1E1E1E"/>
                </a:solidFill>
              </a:defRPr>
            </a:pPr>
            <a:endParaRPr dirty="0"/>
          </a:p>
          <a:p>
            <a:pPr>
              <a:defRPr sz="1050">
                <a:solidFill>
                  <a:srgbClr val="1E1E1E"/>
                </a:solidFill>
              </a:defRPr>
            </a:pP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3212184" y="6492681"/>
            <a:ext cx="824693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57FB72"/>
                </a:solidFill>
              </a:rPr>
              <a:t>Main takeaway: the model is not a perfect alarm. It is a risk-ranking system that moves rare attack behavior far above random.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0384" y="6560820"/>
            <a:ext cx="5943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dirty="0">
                <a:solidFill>
                  <a:srgbClr val="5A5A5A"/>
                </a:solidFill>
              </a:rPr>
              <a:t>Mark Crisci  |  LANL ML Final Project  |  10/14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6B0844-54C4-9A9E-5857-55BD8CC91136}"/>
              </a:ext>
            </a:extLst>
          </p:cNvPr>
          <p:cNvSpPr txBox="1"/>
          <p:nvPr/>
        </p:nvSpPr>
        <p:spPr>
          <a:xfrm>
            <a:off x="3689100" y="3313089"/>
            <a:ext cx="2674873" cy="855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C000"/>
                </a:solidFill>
                <a:highlight>
                  <a:srgbClr val="000000"/>
                </a:highlight>
              </a:rPr>
              <a:t>The PR curve looks visually compressed because the random baseline is only 0.000043are positives.</a:t>
            </a:r>
          </a:p>
          <a:p>
            <a:endParaRPr lang="en-US" sz="1200" dirty="0">
              <a:solidFill>
                <a:srgbClr val="FFC000"/>
              </a:solidFill>
              <a:highlight>
                <a:srgbClr val="000000"/>
              </a:highlight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D41689-0C24-EA4E-9AEF-E2B90A7CABB0}"/>
              </a:ext>
            </a:extLst>
          </p:cNvPr>
          <p:cNvSpPr txBox="1"/>
          <p:nvPr/>
        </p:nvSpPr>
        <p:spPr>
          <a:xfrm>
            <a:off x="8613214" y="1962937"/>
            <a:ext cx="1443094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C000"/>
                </a:solidFill>
                <a:highlight>
                  <a:srgbClr val="000000"/>
                </a:highlight>
              </a:rPr>
              <a:t> 0.881 </a:t>
            </a:r>
          </a:p>
          <a:p>
            <a:endParaRPr lang="en-US" sz="1400" dirty="0">
              <a:solidFill>
                <a:srgbClr val="FFC000"/>
              </a:solidFill>
              <a:highlight>
                <a:srgbClr val="000000"/>
              </a:highlight>
            </a:endParaRPr>
          </a:p>
          <a:p>
            <a:endParaRPr lang="en-US" sz="1400" dirty="0">
              <a:solidFill>
                <a:srgbClr val="FFC000"/>
              </a:solidFill>
              <a:highlight>
                <a:srgbClr val="000000"/>
              </a:highlight>
            </a:endParaRPr>
          </a:p>
          <a:p>
            <a:endParaRPr lang="en-US" sz="1400" dirty="0">
              <a:solidFill>
                <a:srgbClr val="FFC000"/>
              </a:solidFill>
              <a:highlight>
                <a:srgbClr val="000000"/>
              </a:highlight>
            </a:endParaRPr>
          </a:p>
          <a:p>
            <a:endParaRPr lang="en-US" sz="1400" dirty="0">
              <a:solidFill>
                <a:srgbClr val="FFC000"/>
              </a:solidFill>
              <a:highlight>
                <a:srgbClr val="000000"/>
              </a:highlight>
            </a:endParaRPr>
          </a:p>
          <a:p>
            <a:endParaRPr lang="en-US" sz="1400" dirty="0">
              <a:solidFill>
                <a:srgbClr val="FFC000"/>
              </a:solidFill>
              <a:highlight>
                <a:srgbClr val="000000"/>
              </a:highlight>
            </a:endParaRPr>
          </a:p>
          <a:p>
            <a:endParaRPr lang="en-US" sz="1400" dirty="0">
              <a:solidFill>
                <a:srgbClr val="FFC000"/>
              </a:solidFill>
              <a:highlight>
                <a:srgbClr val="000000"/>
              </a:highlight>
            </a:endParaRPr>
          </a:p>
          <a:p>
            <a:endParaRPr lang="en-US" sz="1400" dirty="0">
              <a:solidFill>
                <a:srgbClr val="FFC000"/>
              </a:solidFill>
              <a:highlight>
                <a:srgbClr val="000000"/>
              </a:highlight>
            </a:endParaRPr>
          </a:p>
          <a:p>
            <a:endParaRPr lang="en-US" sz="1400" dirty="0">
              <a:solidFill>
                <a:srgbClr val="FFC000"/>
              </a:solidFill>
              <a:highlight>
                <a:srgbClr val="000000"/>
              </a:highlight>
            </a:endParaRPr>
          </a:p>
          <a:p>
            <a:endParaRPr lang="en-US" sz="1400" dirty="0">
              <a:solidFill>
                <a:srgbClr val="FFC000"/>
              </a:solidFill>
              <a:highlight>
                <a:srgbClr val="000000"/>
              </a:highlight>
            </a:endParaRPr>
          </a:p>
          <a:p>
            <a:endParaRPr lang="en-US" sz="1400" dirty="0">
              <a:solidFill>
                <a:srgbClr val="FFC000"/>
              </a:solidFill>
              <a:highlight>
                <a:srgbClr val="000000"/>
              </a:highlight>
            </a:endParaRPr>
          </a:p>
          <a:p>
            <a:endParaRPr lang="en-US" sz="1400" dirty="0">
              <a:solidFill>
                <a:srgbClr val="FFC000"/>
              </a:solidFill>
              <a:highlight>
                <a:srgbClr val="000000"/>
              </a:highlight>
            </a:endParaRPr>
          </a:p>
          <a:p>
            <a:endParaRPr lang="en-US" sz="1400" dirty="0">
              <a:solidFill>
                <a:srgbClr val="FFC000"/>
              </a:solidFill>
              <a:highlight>
                <a:srgbClr val="000000"/>
              </a:highlight>
            </a:endParaRPr>
          </a:p>
          <a:p>
            <a:endParaRPr lang="en-US" sz="1400" dirty="0">
              <a:solidFill>
                <a:srgbClr val="FFC000"/>
              </a:solidFill>
              <a:highlight>
                <a:srgbClr val="000000"/>
              </a:highlight>
            </a:endParaRPr>
          </a:p>
          <a:p>
            <a:endParaRPr lang="en-US" sz="1400" dirty="0">
              <a:solidFill>
                <a:srgbClr val="FFC000"/>
              </a:solidFill>
              <a:highlight>
                <a:srgbClr val="000000"/>
              </a:highlight>
            </a:endParaRPr>
          </a:p>
          <a:p>
            <a:r>
              <a:rPr lang="en-US" sz="1400" dirty="0">
                <a:solidFill>
                  <a:schemeClr val="tx2">
                    <a:lumMod val="40000"/>
                    <a:lumOff val="60000"/>
                  </a:schemeClr>
                </a:solidFill>
                <a:highlight>
                  <a:srgbClr val="000000"/>
                </a:highlight>
              </a:rPr>
              <a:t>0.03905.</a:t>
            </a:r>
          </a:p>
          <a:p>
            <a:endParaRPr lang="en-US" sz="1400" dirty="0">
              <a:solidFill>
                <a:srgbClr val="FFC000"/>
              </a:solidFill>
              <a:highlight>
                <a:srgbClr val="000000"/>
              </a:highlight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2D1DE3-5B4D-B9D8-FE2C-E31656A4AA31}"/>
              </a:ext>
            </a:extLst>
          </p:cNvPr>
          <p:cNvSpPr txBox="1"/>
          <p:nvPr/>
        </p:nvSpPr>
        <p:spPr>
          <a:xfrm>
            <a:off x="1621410" y="1962937"/>
            <a:ext cx="92382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chemeClr val="accent6"/>
                </a:solidFill>
                <a:highlight>
                  <a:srgbClr val="000000"/>
                </a:highlight>
              </a:rPr>
              <a:t>0.838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884EF1-3E63-23D1-5DE2-34D4AA86AF96}"/>
              </a:ext>
            </a:extLst>
          </p:cNvPr>
          <p:cNvSpPr txBox="1"/>
          <p:nvPr/>
        </p:nvSpPr>
        <p:spPr>
          <a:xfrm>
            <a:off x="1432874" y="5556228"/>
            <a:ext cx="102752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chemeClr val="tx2">
                    <a:lumMod val="40000"/>
                    <a:lumOff val="60000"/>
                  </a:schemeClr>
                </a:solidFill>
                <a:highlight>
                  <a:srgbClr val="000000"/>
                </a:highlight>
              </a:rPr>
              <a:t>0.00161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731995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dirty="0">
                <a:solidFill>
                  <a:srgbClr val="57FB72"/>
                </a:solidFill>
                <a:highlight>
                  <a:srgbClr val="000000"/>
                </a:highlight>
              </a:rPr>
              <a:t>Winning Model Diagnostics: Confusion Matrices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58368"/>
            <a:ext cx="4512582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300" b="0" dirty="0">
                <a:solidFill>
                  <a:schemeClr val="bg2"/>
                </a:solidFill>
              </a:rPr>
              <a:t>Validation and test operating-point behavior at threshold = 0.10</a:t>
            </a:r>
          </a:p>
        </p:txBody>
      </p:sp>
      <p:pic>
        <p:nvPicPr>
          <p:cNvPr id="4" name="Picture 3" descr="lgbm_confusion_matrix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4709160" cy="4586722"/>
          </a:xfrm>
          <a:prstGeom prst="rect">
            <a:avLst/>
          </a:prstGeom>
        </p:spPr>
      </p:pic>
      <p:pic>
        <p:nvPicPr>
          <p:cNvPr id="5" name="Picture 4" descr="lgbm_confusion_matrix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60" y="1005840"/>
            <a:ext cx="4709160" cy="458672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829800" y="1005840"/>
            <a:ext cx="2183858" cy="4586722"/>
          </a:xfrm>
          <a:prstGeom prst="rect">
            <a:avLst/>
          </a:prstGeom>
          <a:solidFill>
            <a:srgbClr val="F5F7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49059" y="1017959"/>
            <a:ext cx="2264599" cy="39318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0B1F3B"/>
                </a:solidFill>
              </a:rPr>
              <a:t>Operational reading</a:t>
            </a:r>
          </a:p>
          <a:p>
            <a:pPr>
              <a:defRPr sz="1050">
                <a:solidFill>
                  <a:srgbClr val="1E1E1E"/>
                </a:solidFill>
              </a:defRPr>
            </a:pPr>
            <a:endParaRPr lang="en-US" dirty="0"/>
          </a:p>
          <a:p>
            <a:pPr>
              <a:defRPr sz="1050">
                <a:solidFill>
                  <a:srgbClr val="1E1E1E"/>
                </a:solidFill>
              </a:defRPr>
            </a:pPr>
            <a:endParaRPr lang="en-US" dirty="0"/>
          </a:p>
          <a:p>
            <a:pPr>
              <a:defRPr sz="1050">
                <a:solidFill>
                  <a:srgbClr val="1E1E1E"/>
                </a:solidFill>
              </a:defRPr>
            </a:pPr>
            <a:r>
              <a:rPr dirty="0"/>
              <a:t>Validation: </a:t>
            </a:r>
            <a:endParaRPr lang="en-US" dirty="0"/>
          </a:p>
          <a:p>
            <a:pPr>
              <a:defRPr sz="1050">
                <a:solidFill>
                  <a:srgbClr val="1E1E1E"/>
                </a:solidFill>
              </a:defRPr>
            </a:pPr>
            <a:r>
              <a:rPr b="1" i="1" dirty="0"/>
              <a:t>TP = 23</a:t>
            </a:r>
            <a:r>
              <a:rPr lang="en-US" b="1" i="1" dirty="0"/>
              <a:t> </a:t>
            </a:r>
          </a:p>
          <a:p>
            <a:pPr>
              <a:defRPr sz="1050">
                <a:solidFill>
                  <a:srgbClr val="1E1E1E"/>
                </a:solidFill>
              </a:defRPr>
            </a:pPr>
            <a:r>
              <a:rPr b="1" i="1" dirty="0"/>
              <a:t>FN = 96</a:t>
            </a:r>
            <a:endParaRPr lang="en-US" b="1" i="1" dirty="0"/>
          </a:p>
          <a:p>
            <a:pPr>
              <a:defRPr sz="1050">
                <a:solidFill>
                  <a:srgbClr val="1E1E1E"/>
                </a:solidFill>
              </a:defRPr>
            </a:pPr>
            <a:r>
              <a:rPr b="1" i="1" dirty="0"/>
              <a:t>FP = 57,773</a:t>
            </a:r>
            <a:endParaRPr lang="en-US" b="1" i="1" dirty="0"/>
          </a:p>
          <a:p>
            <a:pPr>
              <a:defRPr sz="1050">
                <a:solidFill>
                  <a:srgbClr val="1E1E1E"/>
                </a:solidFill>
              </a:defRPr>
            </a:pPr>
            <a:endParaRPr lang="en-US" dirty="0"/>
          </a:p>
          <a:p>
            <a:pPr>
              <a:defRPr sz="1050">
                <a:solidFill>
                  <a:srgbClr val="1E1E1E"/>
                </a:solidFill>
              </a:defRPr>
            </a:pPr>
            <a:endParaRPr dirty="0"/>
          </a:p>
          <a:p>
            <a:pPr>
              <a:defRPr sz="1050">
                <a:solidFill>
                  <a:srgbClr val="1E1E1E"/>
                </a:solidFill>
              </a:defRPr>
            </a:pPr>
            <a:r>
              <a:rPr dirty="0"/>
              <a:t>Test: </a:t>
            </a:r>
            <a:endParaRPr lang="en-US" dirty="0"/>
          </a:p>
          <a:p>
            <a:pPr>
              <a:defRPr sz="1050">
                <a:solidFill>
                  <a:srgbClr val="1E1E1E"/>
                </a:solidFill>
              </a:defRPr>
            </a:pPr>
            <a:r>
              <a:rPr b="1" i="1" dirty="0"/>
              <a:t>TP = 28 </a:t>
            </a:r>
            <a:endParaRPr lang="en-US" b="1" i="1" dirty="0"/>
          </a:p>
          <a:p>
            <a:pPr>
              <a:defRPr sz="1050">
                <a:solidFill>
                  <a:srgbClr val="1E1E1E"/>
                </a:solidFill>
              </a:defRPr>
            </a:pPr>
            <a:r>
              <a:rPr b="1" i="1" dirty="0"/>
              <a:t>FN = 91</a:t>
            </a:r>
            <a:endParaRPr lang="en-US" b="1" i="1" dirty="0"/>
          </a:p>
          <a:p>
            <a:pPr>
              <a:defRPr sz="1050">
                <a:solidFill>
                  <a:srgbClr val="1E1E1E"/>
                </a:solidFill>
              </a:defRPr>
            </a:pPr>
            <a:r>
              <a:rPr b="1" i="1" dirty="0"/>
              <a:t>FP = 57,53</a:t>
            </a:r>
            <a:r>
              <a:rPr lang="en-US" b="1" i="1" dirty="0"/>
              <a:t>5</a:t>
            </a:r>
          </a:p>
          <a:p>
            <a:pPr>
              <a:defRPr sz="1050">
                <a:solidFill>
                  <a:srgbClr val="1E1E1E"/>
                </a:solidFill>
              </a:defRPr>
            </a:pPr>
            <a:endParaRPr lang="en-US" dirty="0"/>
          </a:p>
          <a:p>
            <a:pPr>
              <a:defRPr sz="1050">
                <a:solidFill>
                  <a:srgbClr val="1E1E1E"/>
                </a:solidFill>
              </a:defRPr>
            </a:pPr>
            <a:endParaRPr dirty="0"/>
          </a:p>
          <a:p>
            <a:pPr>
              <a:defRPr sz="1050">
                <a:solidFill>
                  <a:srgbClr val="1E1E1E"/>
                </a:solidFill>
              </a:defRPr>
            </a:pPr>
            <a:r>
              <a:rPr i="1" dirty="0"/>
              <a:t>At threshold 0.10, </a:t>
            </a:r>
            <a:endParaRPr lang="en-US" i="1" dirty="0"/>
          </a:p>
          <a:p>
            <a:pPr>
              <a:defRPr sz="1050">
                <a:solidFill>
                  <a:srgbClr val="1E1E1E"/>
                </a:solidFill>
              </a:defRPr>
            </a:pPr>
            <a:r>
              <a:rPr i="1" dirty="0"/>
              <a:t>the test model catches 28 of 119 attacks, about 23.5% recall.</a:t>
            </a:r>
            <a:endParaRPr lang="en-US" i="1" dirty="0"/>
          </a:p>
          <a:p>
            <a:pPr>
              <a:defRPr sz="1050">
                <a:solidFill>
                  <a:srgbClr val="1E1E1E"/>
                </a:solidFill>
              </a:defRPr>
            </a:pPr>
            <a:endParaRPr lang="en-US" dirty="0"/>
          </a:p>
          <a:p>
            <a:pPr>
              <a:defRPr sz="1050">
                <a:solidFill>
                  <a:srgbClr val="1E1E1E"/>
                </a:solidFill>
              </a:defRPr>
            </a:pPr>
            <a:r>
              <a:rPr lang="en-US" dirty="0"/>
              <a:t>Th</a:t>
            </a:r>
            <a:r>
              <a:rPr dirty="0"/>
              <a:t>e false positives are the analyst workload. </a:t>
            </a:r>
            <a:r>
              <a:rPr sz="1200" b="1" i="1" dirty="0"/>
              <a:t>Raising the threshold reduces noise but misses more attacks.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864852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dirty="0">
                <a:solidFill>
                  <a:srgbClr val="57FB72"/>
                </a:solidFill>
              </a:rPr>
              <a:t>This is why the threshold is a business decision: lower threshold = more recall, more alerts; higher threshold = fewer alerts, more missed attacks.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5943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dirty="0">
                <a:solidFill>
                  <a:srgbClr val="5A5A5A"/>
                </a:solidFill>
              </a:rPr>
              <a:t>Mark Crisci  |  LANL ML Final Project  |  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8A"/>
                </a:solidFill>
                <a:latin typeface="Calibri"/>
              </a:rPr>
              <a:t>Model Interpretation — TreeSHAP + Counterfactuals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  <a:latin typeface="Calibri"/>
              </a:rPr>
              <a:t>Exact per-feature contributions — not an approximation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  <a:latin typeface="Calibri"/>
              </a:rPr>
              <a:t>Mark Crisci  |  LANL ML Final Project  |  10/12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577840" cy="50292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D48A"/>
                </a:solidFill>
                <a:latin typeface="Calibri"/>
              </a:rPr>
              <a:t>Why did the model flag this host?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2304288" cy="274320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29000" y="1965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flows_outbound_count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965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4D4D"/>
                </a:solidFill>
                <a:latin typeface="Calibri"/>
              </a:rPr>
              <a:t>+0.84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13432"/>
            <a:ext cx="1673352" cy="274320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29000" y="23134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auth_unique_destinations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231343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4D4D"/>
                </a:solidFill>
                <a:latin typeface="Calibri"/>
              </a:rPr>
              <a:t>+0.61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660904"/>
            <a:ext cx="1152144" cy="274320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29000" y="266090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auth_total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266090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4D4D"/>
                </a:solidFill>
                <a:latin typeface="Calibri"/>
              </a:rPr>
              <a:t>+0.42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008376"/>
            <a:ext cx="795528" cy="274320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29000" y="300837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flows_bytes_total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3008376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4D4D"/>
                </a:solidFill>
                <a:latin typeface="Calibri"/>
              </a:rPr>
              <a:t>+0.29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98064" y="3355848"/>
            <a:ext cx="493776" cy="27432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29000" y="335584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dns_lookup_count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335584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D48A"/>
                </a:solidFill>
                <a:latin typeface="Calibri"/>
              </a:rPr>
              <a:t>-0.18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41448" y="3703320"/>
            <a:ext cx="850392" cy="27432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29000" y="3703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proc_unique_processes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37033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D48A"/>
                </a:solidFill>
                <a:latin typeface="Calibri"/>
              </a:rPr>
              <a:t>-0.31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62656" y="4050792"/>
            <a:ext cx="329184" cy="27432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29000" y="40507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auth_failure_ratio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49240" y="405079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D48A"/>
                </a:solidFill>
                <a:latin typeface="Calibri"/>
              </a:rPr>
              <a:t>-0.12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52628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  <a:latin typeface="Calibri"/>
              </a:rPr>
              <a:t>Red = pushes risk UP  |  Green = pushes risk DOWN  |  Length = magnitude (log-odds)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9377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TreeSHAP: exact contributions from LightGBM's booster internals.
Not a shap library approximation. Reproducible and fast.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1417320"/>
            <a:ext cx="5577840" cy="219456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00800" y="150876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B800"/>
                </a:solidFill>
                <a:latin typeface="Calibri"/>
              </a:rPr>
              <a:t>Counterfactual Recommender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1920240"/>
            <a:ext cx="5212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"How to lower this risk below 20%:"
auth_outbound_count        delta = -2
flows_outbound_count       delta = -4
auth_unique_destinations   delta = -1
Smallest single-feature change that crosses the decision boundary.
Computed by the LR sidecar (closed-form). Actionable for an analyst.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3749039"/>
            <a:ext cx="5577840" cy="269748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00800" y="38404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D48A"/>
                </a:solidFill>
                <a:latin typeface="Calibri"/>
              </a:rPr>
              <a:t>Cost-Optimal Threshold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251960"/>
            <a:ext cx="5212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Input:
  cost_fp = $100   (analyst investigation time)
  cost_fn = $100,000   (breach cost)
Output: threshold = 0.10
Minimizes: FP_count × cost_fp + FN_count × cost_fn
on the validation set. NOT hardcoded to 0.5.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8A"/>
                </a:solidFill>
                <a:latin typeface="Calibri"/>
              </a:rPr>
              <a:t>Why Threshold 0.5 is Wrong — and How to Fix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  <a:latin typeface="Calibri"/>
              </a:rPr>
              <a:t>The threshold is a business decision, not a hyperparameter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  <a:latin typeface="Calibri"/>
              </a:rPr>
              <a:t>Mark Crisci  |  LANL ML Final Project  |  11/12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394960" cy="292608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4D4D"/>
                </a:solidFill>
                <a:latin typeface="Calibri"/>
              </a:rPr>
              <a:t>At threshold = 0.5  (sklearn default)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CA3AF"/>
                </a:solidFill>
                <a:latin typeface="Calibri"/>
              </a:rPr>
              <a:t>Predicted positives:  ≈ 0
True positives:        ≈ 0
False positives:       ≈ 0
False negatives:       ≈ ALL 119 test attacks
The model looks broken. It isn't.
It ranks positives correctly — 0.5 is just too high
a cutoff for a 0.004% positive rate.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417320"/>
            <a:ext cx="5577840" cy="292608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D48A"/>
                </a:solidFill>
                <a:latin typeface="Calibri"/>
              </a:rPr>
              <a:t>At cost-optimal threshold = 0.10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92024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CA3AF"/>
                </a:solidFill>
                <a:latin typeface="Calibri"/>
              </a:rPr>
              <a:t>Predicted positives:  controlled volume
True positives:        meaningful recall
False positives:       manageable noise
False negatives:       minimized given costs
Same model. Same predictions.
Different operating point — tuned to your
actual FP/FN cost ratio.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526280"/>
            <a:ext cx="11430000" cy="11887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461772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CA3AF"/>
                </a:solidFill>
                <a:latin typeface="Calibri"/>
              </a:rPr>
              <a:t>The cost-matrix calculator takes cost_fp and cost_fn, sweeps threshold 0.001→0.999,
computes total_cost = FP × cost_fp + FN × cost_fn at each step on the validation set,
and returns the threshold with the lowest expected operational cost.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D48A"/>
                </a:solidFill>
                <a:latin typeface="Calibri"/>
              </a:rPr>
              <a:t>Limitations &amp; Stakeholder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  <a:latin typeface="Calibri"/>
              </a:rPr>
              <a:t>Honest weaknesses + what I'd tell a SOC director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  <a:latin typeface="Calibri"/>
              </a:rPr>
              <a:t>Mark Crisci  |  LANL ML Final Project  |  12/12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B800"/>
                </a:solidFill>
                <a:latin typeface="Calibri"/>
              </a:rPr>
              <a:t>Limitations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874519"/>
            <a:ext cx="5577840" cy="6858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920239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B800"/>
                </a:solidFill>
                <a:latin typeface="Calibri"/>
              </a:rPr>
              <a:t>Streaming is simulated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40279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CSV replay at 1 event/sec — not live Kinesis ingest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624327"/>
            <a:ext cx="5577840" cy="6858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2670047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B800"/>
                </a:solidFill>
                <a:latin typeface="Calibri"/>
              </a:rPr>
              <a:t>No calibration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90087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Probabilities rank correctly; not verified as true frequencies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374135"/>
            <a:ext cx="5577840" cy="6858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3419855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B800"/>
                </a:solidFill>
                <a:latin typeface="Calibri"/>
              </a:rPr>
              <a:t>k-fold not used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39895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Justified by temporal structure; acknowledged as a gap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123943"/>
            <a:ext cx="5577840" cy="6858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4169663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B800"/>
                </a:solidFill>
                <a:latin typeface="Calibri"/>
              </a:rPr>
              <a:t>596 positives total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489703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Model generalizes within LANL; external validity unknown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873751"/>
            <a:ext cx="5577840" cy="6858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4919471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B800"/>
                </a:solidFill>
                <a:latin typeface="Calibri"/>
              </a:rPr>
              <a:t>GenAI comparison: NOT DONE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239511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Extra credit not claimed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141732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D48A"/>
                </a:solidFill>
                <a:latin typeface="Calibri"/>
              </a:rPr>
              <a:t>Stakeholder Recommendation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1874519"/>
            <a:ext cx="5577840" cy="6858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0" y="1920239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D48A"/>
                </a:solidFill>
                <a:latin typeface="Calibri"/>
              </a:rPr>
              <a:t>Deploy LightGBM at cost-optimal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240279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Set threshold via the cost-matrix calculator using your actual FP/FN costs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2624327"/>
            <a:ext cx="5577840" cy="6858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2670047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D48A"/>
                </a:solidFill>
                <a:latin typeface="Calibri"/>
              </a:rPr>
              <a:t>Pair every alert with its SHAP explanation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990087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Analysts see WHY the model flagged — not just that it did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374135"/>
            <a:ext cx="5577840" cy="6858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0" y="3419855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D48A"/>
                </a:solidFill>
                <a:latin typeface="Calibri"/>
              </a:rPr>
              <a:t>Use the counterfactual table as first-line remediation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739895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'Reduce outbound auth count by 2' is actionable; 'elevated risk' is not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4123943"/>
            <a:ext cx="5577840" cy="6858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4169663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D48A"/>
                </a:solidFill>
                <a:latin typeface="Calibri"/>
              </a:rPr>
              <a:t>Add calibration before quoting percentages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489703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Reliability diagrams + Platt scaling before telling a CISO '74.5% chance'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4873751"/>
            <a:ext cx="5577840" cy="6858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00800" y="4919471"/>
            <a:ext cx="5212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D48A"/>
                </a:solidFill>
                <a:latin typeface="Calibri"/>
              </a:rPr>
              <a:t>Future: real Kinesis ingest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239511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Calibri"/>
              </a:rPr>
              <a:t>Swap CSV replayer for Kinesis consumer — model and API unchanged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2079</Words>
  <Application>Microsoft Office PowerPoint</Application>
  <PresentationFormat>Custom</PresentationFormat>
  <Paragraphs>286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mark crisci</cp:lastModifiedBy>
  <cp:revision>2</cp:revision>
  <dcterms:created xsi:type="dcterms:W3CDTF">2013-01-27T09:14:16Z</dcterms:created>
  <dcterms:modified xsi:type="dcterms:W3CDTF">2026-05-14T03:19:24Z</dcterms:modified>
  <cp:category/>
</cp:coreProperties>
</file>